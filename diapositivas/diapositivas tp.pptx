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82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8" d="100"/>
          <a:sy n="78" d="100"/>
        </p:scale>
        <p:origin x="878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/>
          <p:cNvGrpSpPr/>
          <p:nvPr/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bg2">
                  <a:lumMod val="60000"/>
                  <a:lumOff val="40000"/>
                </a:schemeClr>
              </a:gs>
            </a:gsLst>
            <a:lin ang="5400000" scaled="0"/>
            <a:tileRect/>
          </a:gradFill>
        </p:grpSpPr>
        <p:sp>
          <p:nvSpPr>
            <p:cNvPr id="12" name="Rectangle 5"/>
            <p:cNvSpPr>
              <a:spLocks noChangeArrowheads="1"/>
            </p:cNvSpPr>
            <p:nvPr/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s-AR"/>
            </a:p>
          </p:txBody>
        </p:sp>
        <p:sp>
          <p:nvSpPr>
            <p:cNvPr id="13" name="Freeform 6"/>
            <p:cNvSpPr>
              <a:spLocks noEditPoints="1"/>
            </p:cNvSpPr>
            <p:nvPr/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s-AR"/>
            </a:p>
          </p:txBody>
        </p:sp>
        <p:sp>
          <p:nvSpPr>
            <p:cNvPr id="14" name="Freeform 7"/>
            <p:cNvSpPr>
              <a:spLocks noEditPoints="1"/>
            </p:cNvSpPr>
            <p:nvPr/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s-AR"/>
            </a:p>
          </p:txBody>
        </p:sp>
        <p:sp>
          <p:nvSpPr>
            <p:cNvPr id="15" name="Rectangle 8"/>
            <p:cNvSpPr>
              <a:spLocks noChangeArrowheads="1"/>
            </p:cNvSpPr>
            <p:nvPr/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s-AR"/>
            </a:p>
          </p:txBody>
        </p:sp>
        <p:sp>
          <p:nvSpPr>
            <p:cNvPr id="16" name="Freeform 9"/>
            <p:cNvSpPr>
              <a:spLocks noEditPoints="1"/>
            </p:cNvSpPr>
            <p:nvPr/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s-AR"/>
            </a:p>
          </p:txBody>
        </p:sp>
        <p:sp>
          <p:nvSpPr>
            <p:cNvPr id="17" name="Freeform 10"/>
            <p:cNvSpPr/>
            <p:nvPr/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s-AR"/>
            </a:p>
          </p:txBody>
        </p:sp>
        <p:sp>
          <p:nvSpPr>
            <p:cNvPr id="18" name="Freeform 11"/>
            <p:cNvSpPr/>
            <p:nvPr/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s-AR"/>
            </a:p>
          </p:txBody>
        </p:sp>
        <p:sp>
          <p:nvSpPr>
            <p:cNvPr id="19" name="Freeform 12"/>
            <p:cNvSpPr>
              <a:spLocks noEditPoints="1"/>
            </p:cNvSpPr>
            <p:nvPr/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s-AR"/>
            </a:p>
          </p:txBody>
        </p:sp>
        <p:sp>
          <p:nvSpPr>
            <p:cNvPr id="20" name="Freeform 13"/>
            <p:cNvSpPr/>
            <p:nvPr/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s-AR"/>
            </a:p>
          </p:txBody>
        </p:sp>
        <p:sp>
          <p:nvSpPr>
            <p:cNvPr id="21" name="Freeform 14"/>
            <p:cNvSpPr/>
            <p:nvPr/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s-AR"/>
            </a:p>
          </p:txBody>
        </p:sp>
        <p:sp>
          <p:nvSpPr>
            <p:cNvPr id="22" name="Freeform 15"/>
            <p:cNvSpPr>
              <a:spLocks noEditPoints="1"/>
            </p:cNvSpPr>
            <p:nvPr/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s-AR"/>
            </a:p>
          </p:txBody>
        </p:sp>
        <p:sp>
          <p:nvSpPr>
            <p:cNvPr id="23" name="Freeform 16"/>
            <p:cNvSpPr>
              <a:spLocks noEditPoints="1"/>
            </p:cNvSpPr>
            <p:nvPr/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s-AR"/>
            </a:p>
          </p:txBody>
        </p:sp>
        <p:sp>
          <p:nvSpPr>
            <p:cNvPr id="24" name="Freeform 17"/>
            <p:cNvSpPr/>
            <p:nvPr/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s-AR"/>
            </a:p>
          </p:txBody>
        </p:sp>
        <p:sp>
          <p:nvSpPr>
            <p:cNvPr id="25" name="Freeform 18"/>
            <p:cNvSpPr>
              <a:spLocks noEditPoints="1"/>
            </p:cNvSpPr>
            <p:nvPr/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s-AR"/>
            </a:p>
          </p:txBody>
        </p:sp>
        <p:sp>
          <p:nvSpPr>
            <p:cNvPr id="26" name="Freeform 19"/>
            <p:cNvSpPr/>
            <p:nvPr/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s-AR"/>
            </a:p>
          </p:txBody>
        </p:sp>
        <p:sp>
          <p:nvSpPr>
            <p:cNvPr id="27" name="Freeform 20"/>
            <p:cNvSpPr>
              <a:spLocks noEditPoints="1"/>
            </p:cNvSpPr>
            <p:nvPr/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s-AR"/>
            </a:p>
          </p:txBody>
        </p:sp>
        <p:sp>
          <p:nvSpPr>
            <p:cNvPr id="28" name="Freeform 21"/>
            <p:cNvSpPr>
              <a:spLocks noEditPoints="1"/>
            </p:cNvSpPr>
            <p:nvPr/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s-AR"/>
            </a:p>
          </p:txBody>
        </p:sp>
        <p:sp>
          <p:nvSpPr>
            <p:cNvPr id="29" name="Freeform 22"/>
            <p:cNvSpPr/>
            <p:nvPr/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s-AR"/>
            </a:p>
          </p:txBody>
        </p:sp>
        <p:sp>
          <p:nvSpPr>
            <p:cNvPr id="30" name="Freeform 23"/>
            <p:cNvSpPr>
              <a:spLocks noEditPoints="1"/>
            </p:cNvSpPr>
            <p:nvPr/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s-AR"/>
            </a:p>
          </p:txBody>
        </p:sp>
        <p:sp>
          <p:nvSpPr>
            <p:cNvPr id="31" name="Freeform 24"/>
            <p:cNvSpPr>
              <a:spLocks noEditPoints="1"/>
            </p:cNvSpPr>
            <p:nvPr/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s-AR"/>
            </a:p>
          </p:txBody>
        </p:sp>
        <p:sp>
          <p:nvSpPr>
            <p:cNvPr id="32" name="Freeform 25"/>
            <p:cNvSpPr/>
            <p:nvPr/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s-AR"/>
            </a:p>
          </p:txBody>
        </p:sp>
        <p:sp>
          <p:nvSpPr>
            <p:cNvPr id="33" name="Freeform 26"/>
            <p:cNvSpPr>
              <a:spLocks noEditPoints="1"/>
            </p:cNvSpPr>
            <p:nvPr/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s-AR"/>
            </a:p>
          </p:txBody>
        </p:sp>
        <p:sp>
          <p:nvSpPr>
            <p:cNvPr id="34" name="Freeform 27"/>
            <p:cNvSpPr/>
            <p:nvPr/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s-AR"/>
            </a:p>
          </p:txBody>
        </p:sp>
        <p:sp>
          <p:nvSpPr>
            <p:cNvPr id="35" name="Freeform 28"/>
            <p:cNvSpPr>
              <a:spLocks noEditPoints="1"/>
            </p:cNvSpPr>
            <p:nvPr/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s-AR"/>
            </a:p>
          </p:txBody>
        </p:sp>
        <p:sp>
          <p:nvSpPr>
            <p:cNvPr id="36" name="Freeform 29"/>
            <p:cNvSpPr/>
            <p:nvPr/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s-AR"/>
            </a:p>
          </p:txBody>
        </p:sp>
        <p:sp>
          <p:nvSpPr>
            <p:cNvPr id="37" name="Freeform 30"/>
            <p:cNvSpPr>
              <a:spLocks noEditPoints="1"/>
            </p:cNvSpPr>
            <p:nvPr/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s-AR"/>
            </a:p>
          </p:txBody>
        </p:sp>
        <p:sp>
          <p:nvSpPr>
            <p:cNvPr id="38" name="Freeform 31"/>
            <p:cNvSpPr/>
            <p:nvPr/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s-AR"/>
            </a:p>
          </p:txBody>
        </p:sp>
        <p:sp>
          <p:nvSpPr>
            <p:cNvPr id="39" name="Freeform 32"/>
            <p:cNvSpPr>
              <a:spLocks noEditPoints="1"/>
            </p:cNvSpPr>
            <p:nvPr/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s-AR"/>
            </a:p>
          </p:txBody>
        </p:sp>
        <p:sp>
          <p:nvSpPr>
            <p:cNvPr id="40" name="Rectangle 33"/>
            <p:cNvSpPr>
              <a:spLocks noChangeArrowheads="1"/>
            </p:cNvSpPr>
            <p:nvPr/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s-AR"/>
            </a:p>
          </p:txBody>
        </p:sp>
        <p:sp>
          <p:nvSpPr>
            <p:cNvPr id="41" name="Freeform 34"/>
            <p:cNvSpPr>
              <a:spLocks noEditPoints="1"/>
            </p:cNvSpPr>
            <p:nvPr/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s-AR"/>
            </a:p>
          </p:txBody>
        </p:sp>
        <p:sp>
          <p:nvSpPr>
            <p:cNvPr id="42" name="Freeform 35"/>
            <p:cNvSpPr/>
            <p:nvPr/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s-AR"/>
            </a:p>
          </p:txBody>
        </p:sp>
        <p:sp>
          <p:nvSpPr>
            <p:cNvPr id="43" name="Freeform 36"/>
            <p:cNvSpPr/>
            <p:nvPr/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s-AR"/>
            </a:p>
          </p:txBody>
        </p:sp>
        <p:sp>
          <p:nvSpPr>
            <p:cNvPr id="44" name="Freeform 37"/>
            <p:cNvSpPr>
              <a:spLocks noEditPoints="1"/>
            </p:cNvSpPr>
            <p:nvPr/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s-AR"/>
            </a:p>
          </p:txBody>
        </p:sp>
        <p:sp>
          <p:nvSpPr>
            <p:cNvPr id="45" name="Freeform 38"/>
            <p:cNvSpPr/>
            <p:nvPr/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s-AR"/>
            </a:p>
          </p:txBody>
        </p:sp>
        <p:sp>
          <p:nvSpPr>
            <p:cNvPr id="46" name="Freeform 39"/>
            <p:cNvSpPr/>
            <p:nvPr/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s-AR"/>
            </a:p>
          </p:txBody>
        </p:sp>
        <p:sp>
          <p:nvSpPr>
            <p:cNvPr id="47" name="Freeform 40"/>
            <p:cNvSpPr>
              <a:spLocks noEditPoints="1"/>
            </p:cNvSpPr>
            <p:nvPr/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s-AR"/>
            </a:p>
          </p:txBody>
        </p:sp>
        <p:sp>
          <p:nvSpPr>
            <p:cNvPr id="48" name="Freeform 41"/>
            <p:cNvSpPr/>
            <p:nvPr/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s-AR"/>
            </a:p>
          </p:txBody>
        </p:sp>
        <p:sp>
          <p:nvSpPr>
            <p:cNvPr id="49" name="Freeform 42"/>
            <p:cNvSpPr>
              <a:spLocks noEditPoints="1"/>
            </p:cNvSpPr>
            <p:nvPr/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s-AR"/>
            </a:p>
          </p:txBody>
        </p:sp>
        <p:sp>
          <p:nvSpPr>
            <p:cNvPr id="50" name="Freeform 43"/>
            <p:cNvSpPr/>
            <p:nvPr/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s-AR"/>
            </a:p>
          </p:txBody>
        </p:sp>
        <p:sp>
          <p:nvSpPr>
            <p:cNvPr id="51" name="Freeform 44"/>
            <p:cNvSpPr>
              <a:spLocks noEditPoints="1"/>
            </p:cNvSpPr>
            <p:nvPr/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s-AR"/>
            </a:p>
          </p:txBody>
        </p:sp>
        <p:sp>
          <p:nvSpPr>
            <p:cNvPr id="52" name="Rectangle 45"/>
            <p:cNvSpPr>
              <a:spLocks noChangeArrowheads="1"/>
            </p:cNvSpPr>
            <p:nvPr/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s-AR"/>
            </a:p>
          </p:txBody>
        </p:sp>
        <p:sp>
          <p:nvSpPr>
            <p:cNvPr id="53" name="Freeform 46"/>
            <p:cNvSpPr/>
            <p:nvPr/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s-AR"/>
            </a:p>
          </p:txBody>
        </p:sp>
        <p:sp>
          <p:nvSpPr>
            <p:cNvPr id="54" name="Freeform 47"/>
            <p:cNvSpPr>
              <a:spLocks noEditPoints="1"/>
            </p:cNvSpPr>
            <p:nvPr/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s-AR"/>
            </a:p>
          </p:txBody>
        </p:sp>
        <p:sp>
          <p:nvSpPr>
            <p:cNvPr id="55" name="Freeform 48"/>
            <p:cNvSpPr/>
            <p:nvPr/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s-AR"/>
            </a:p>
          </p:txBody>
        </p:sp>
        <p:sp>
          <p:nvSpPr>
            <p:cNvPr id="56" name="Freeform 49"/>
            <p:cNvSpPr>
              <a:spLocks noEditPoints="1"/>
            </p:cNvSpPr>
            <p:nvPr/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s-AR"/>
            </a:p>
          </p:txBody>
        </p:sp>
        <p:sp>
          <p:nvSpPr>
            <p:cNvPr id="57" name="Freeform 50"/>
            <p:cNvSpPr>
              <a:spLocks noEditPoints="1"/>
            </p:cNvSpPr>
            <p:nvPr/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s-AR"/>
            </a:p>
          </p:txBody>
        </p:sp>
        <p:sp>
          <p:nvSpPr>
            <p:cNvPr id="58" name="Freeform 51"/>
            <p:cNvSpPr/>
            <p:nvPr/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s-AR"/>
            </a:p>
          </p:txBody>
        </p:sp>
        <p:sp>
          <p:nvSpPr>
            <p:cNvPr id="59" name="Freeform 52"/>
            <p:cNvSpPr/>
            <p:nvPr/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s-AR"/>
            </a:p>
          </p:txBody>
        </p:sp>
        <p:sp>
          <p:nvSpPr>
            <p:cNvPr id="60" name="Freeform 53"/>
            <p:cNvSpPr>
              <a:spLocks noEditPoints="1"/>
            </p:cNvSpPr>
            <p:nvPr/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s-AR"/>
            </a:p>
          </p:txBody>
        </p:sp>
        <p:sp>
          <p:nvSpPr>
            <p:cNvPr id="61" name="Freeform 54"/>
            <p:cNvSpPr>
              <a:spLocks noEditPoints="1"/>
            </p:cNvSpPr>
            <p:nvPr/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s-AR"/>
            </a:p>
          </p:txBody>
        </p:sp>
        <p:sp>
          <p:nvSpPr>
            <p:cNvPr id="62" name="Freeform 55"/>
            <p:cNvSpPr/>
            <p:nvPr/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s-AR"/>
            </a:p>
          </p:txBody>
        </p:sp>
        <p:sp>
          <p:nvSpPr>
            <p:cNvPr id="63" name="Freeform 56"/>
            <p:cNvSpPr>
              <a:spLocks noEditPoints="1"/>
            </p:cNvSpPr>
            <p:nvPr/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s-AR"/>
            </a:p>
          </p:txBody>
        </p:sp>
        <p:sp>
          <p:nvSpPr>
            <p:cNvPr id="64" name="Freeform 57"/>
            <p:cNvSpPr/>
            <p:nvPr/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s-AR"/>
            </a:p>
          </p:txBody>
        </p:sp>
        <p:sp>
          <p:nvSpPr>
            <p:cNvPr id="65" name="Freeform 58"/>
            <p:cNvSpPr>
              <a:spLocks noEditPoints="1"/>
            </p:cNvSpPr>
            <p:nvPr/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s-AR"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76424" y="1122363"/>
            <a:ext cx="8791575" cy="2387600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76424" y="3602038"/>
            <a:ext cx="8791575" cy="1655762"/>
          </a:xfrm>
        </p:spPr>
        <p:txBody>
          <a:bodyPr>
            <a:normAutofit/>
          </a:bodyPr>
          <a:lstStyle>
            <a:lvl1pPr marL="0" indent="0" algn="l">
              <a:buNone/>
              <a:defRPr sz="2000" cap="all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077511" y="5410201"/>
            <a:ext cx="2743200" cy="365125"/>
          </a:xfrm>
        </p:spPr>
        <p:txBody>
          <a:bodyPr/>
          <a:lstStyle/>
          <a:p>
            <a:fld id="{48A87A34-81AB-432B-8DAE-1953F412C126}" type="datetimeFigureOut">
              <a:rPr lang="en-US" dirty="0"/>
              <a:t>11/16/2025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876424" y="5410201"/>
            <a:ext cx="5124886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96911" y="5410199"/>
            <a:ext cx="771089" cy="365125"/>
          </a:xfrm>
        </p:spPr>
        <p:txBody>
          <a:bodyPr/>
          <a:lstStyle/>
          <a:p>
            <a:fld id="{6D22F896-40B5-4ADD-8801-0D06FADFA095}" type="slidenum">
              <a:rPr lang="en-US" dirty="0"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11/16/2025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419226"/>
            <a:ext cx="9906000" cy="2852737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424362"/>
            <a:ext cx="9906000" cy="1374776"/>
          </a:xfrm>
        </p:spPr>
        <p:txBody>
          <a:bodyPr>
            <a:normAutofit/>
          </a:bodyPr>
          <a:lstStyle>
            <a:lvl1pPr marL="0" indent="0">
              <a:buNone/>
              <a:defRPr sz="1800" cap="all" baseline="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11/16/2025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0" y="2249486"/>
            <a:ext cx="4878389" cy="3541714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249486"/>
            <a:ext cx="4875211" cy="3541714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11/16/2025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19126"/>
            <a:ext cx="9906000" cy="1477961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0019" y="2249486"/>
            <a:ext cx="4649783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0" y="3073397"/>
            <a:ext cx="4878391" cy="2717801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8" y="2249485"/>
            <a:ext cx="4646602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073397"/>
            <a:ext cx="4875210" cy="2717801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11/16/2025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11/16/2025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11/16/2025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6705" y="609601"/>
            <a:ext cx="3856037" cy="1639884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56200" y="592666"/>
            <a:ext cx="5891209" cy="5198534"/>
          </a:xfrm>
        </p:spPr>
        <p:txBody>
          <a:bodyPr anchor="ctr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6705" y="2249486"/>
            <a:ext cx="3856037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11/16/2025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5934508" cy="163988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380721" y="609601"/>
            <a:ext cx="3666690" cy="5181599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2249486"/>
            <a:ext cx="5934511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11/16/2025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magen panorámica con descrip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4304664"/>
            <a:ext cx="9912355" cy="819355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41411" y="606426"/>
            <a:ext cx="9912354" cy="3299778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3200"/>
            </a:lvl1pPr>
          </a:lstStyle>
          <a:p>
            <a:pPr marL="0" lvl="0" indent="0">
              <a:buNone/>
            </a:pPr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5124020"/>
            <a:ext cx="9910859" cy="68247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11/16/2025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ítulo y descrip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56" y="609600"/>
            <a:ext cx="9905955" cy="342900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4419599"/>
            <a:ext cx="9904459" cy="1371599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11/16/2025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 con descrip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599"/>
            <a:ext cx="9302752" cy="2748429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365557"/>
            <a:ext cx="875229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4309919"/>
            <a:ext cx="9906002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11/16/2025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‹Nº›</a:t>
            </a:fld>
            <a:endParaRPr lang="en-US" dirty="0"/>
          </a:p>
        </p:txBody>
      </p:sp>
      <p:sp>
        <p:nvSpPr>
          <p:cNvPr id="60" name="TextBox 59"/>
          <p:cNvSpPr txBox="1"/>
          <p:nvPr/>
        </p:nvSpPr>
        <p:spPr>
          <a:xfrm>
            <a:off x="903512" y="73239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37370" y="276497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arjeta de nomb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2134041"/>
            <a:ext cx="9906001" cy="2511835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4657655"/>
            <a:ext cx="9904505" cy="1140644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11/16/2025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lumna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1141410" y="2674463"/>
            <a:ext cx="3196899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27918" y="3360263"/>
            <a:ext cx="3208735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4766" y="2677635"/>
            <a:ext cx="3184385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04213" y="3363435"/>
            <a:ext cx="3195830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442" y="2674463"/>
            <a:ext cx="3194968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52442" y="3360263"/>
            <a:ext cx="3194968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11/16/2025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lumna de imagen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1141411" y="609600"/>
            <a:ext cx="9905999" cy="1905000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1141413" y="4404596"/>
            <a:ext cx="319524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141413" y="2666998"/>
            <a:ext cx="31952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41413" y="4980858"/>
            <a:ext cx="3195240" cy="8178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9053" y="4404596"/>
            <a:ext cx="320040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89053" y="2666998"/>
            <a:ext cx="31989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87593" y="4980857"/>
            <a:ext cx="3200400" cy="81034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567" y="4404595"/>
            <a:ext cx="3190741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852442" y="2666998"/>
            <a:ext cx="3194969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852442" y="4980854"/>
            <a:ext cx="3194968" cy="810345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11/16/2025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11/16/2025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042400" y="609599"/>
            <a:ext cx="2005011" cy="5181601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0" y="609599"/>
            <a:ext cx="7748590" cy="5181601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11/16/2025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 7"/>
          <p:cNvGrpSpPr/>
          <p:nvPr/>
        </p:nvGrpSpPr>
        <p:grpSpPr>
          <a:xfrm>
            <a:off x="-14288" y="0"/>
            <a:ext cx="12053888" cy="6858001"/>
            <a:chOff x="-14288" y="0"/>
            <a:chExt cx="12053888" cy="6858001"/>
          </a:xfrm>
        </p:grpSpPr>
        <p:grpSp>
          <p:nvGrpSpPr>
            <p:cNvPr id="9" name="Group 8"/>
            <p:cNvGrpSpPr/>
            <p:nvPr/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adFill flip="none" rotWithShape="1">
              <a:gsLst>
                <a:gs pos="0">
                  <a:schemeClr val="tx2"/>
                </a:gs>
                <a:gs pos="100000">
                  <a:schemeClr val="bg2">
                    <a:lumMod val="60000"/>
                    <a:lumOff val="4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21" name="Rectangle 5"/>
              <p:cNvSpPr>
                <a:spLocks noChangeArrowheads="1"/>
              </p:cNvSpPr>
              <p:nvPr/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s-AR"/>
              </a:p>
            </p:txBody>
          </p:sp>
          <p:sp>
            <p:nvSpPr>
              <p:cNvPr id="22" name="Freeform 6"/>
              <p:cNvSpPr>
                <a:spLocks noEditPoints="1"/>
              </p:cNvSpPr>
              <p:nvPr/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s-AR"/>
              </a:p>
            </p:txBody>
          </p:sp>
          <p:sp>
            <p:nvSpPr>
              <p:cNvPr id="23" name="Freeform 7"/>
              <p:cNvSpPr>
                <a:spLocks noEditPoints="1"/>
              </p:cNvSpPr>
              <p:nvPr/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s-AR"/>
              </a:p>
            </p:txBody>
          </p:sp>
          <p:sp>
            <p:nvSpPr>
              <p:cNvPr id="24" name="Freeform 8"/>
              <p:cNvSpPr/>
              <p:nvPr/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s-AR"/>
              </a:p>
            </p:txBody>
          </p:sp>
          <p:sp>
            <p:nvSpPr>
              <p:cNvPr id="25" name="Freeform 9"/>
              <p:cNvSpPr>
                <a:spLocks noEditPoints="1"/>
              </p:cNvSpPr>
              <p:nvPr/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s-AR"/>
              </a:p>
            </p:txBody>
          </p:sp>
          <p:sp>
            <p:nvSpPr>
              <p:cNvPr id="26" name="Freeform 10"/>
              <p:cNvSpPr/>
              <p:nvPr/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s-AR"/>
              </a:p>
            </p:txBody>
          </p:sp>
          <p:sp>
            <p:nvSpPr>
              <p:cNvPr id="27" name="Freeform 11"/>
              <p:cNvSpPr/>
              <p:nvPr/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s-AR"/>
              </a:p>
            </p:txBody>
          </p:sp>
          <p:sp>
            <p:nvSpPr>
              <p:cNvPr id="28" name="Freeform 12"/>
              <p:cNvSpPr>
                <a:spLocks noEditPoints="1"/>
              </p:cNvSpPr>
              <p:nvPr/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s-AR"/>
              </a:p>
            </p:txBody>
          </p:sp>
          <p:sp>
            <p:nvSpPr>
              <p:cNvPr id="29" name="Freeform 13"/>
              <p:cNvSpPr>
                <a:spLocks noEditPoints="1"/>
              </p:cNvSpPr>
              <p:nvPr/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s-AR"/>
              </a:p>
            </p:txBody>
          </p:sp>
          <p:sp>
            <p:nvSpPr>
              <p:cNvPr id="30" name="Freeform 14"/>
              <p:cNvSpPr/>
              <p:nvPr/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s-AR"/>
              </a:p>
            </p:txBody>
          </p:sp>
          <p:sp>
            <p:nvSpPr>
              <p:cNvPr id="31" name="Freeform 15"/>
              <p:cNvSpPr>
                <a:spLocks noEditPoints="1"/>
              </p:cNvSpPr>
              <p:nvPr/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s-AR"/>
              </a:p>
            </p:txBody>
          </p:sp>
          <p:sp>
            <p:nvSpPr>
              <p:cNvPr id="32" name="Line 16"/>
              <p:cNvSpPr>
                <a:spLocks noChangeShapeType="1"/>
              </p:cNvSpPr>
              <p:nvPr/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  <p:txBody>
              <a:bodyPr/>
              <a:lstStyle/>
              <a:p>
                <a:endParaRPr lang="es-AR"/>
              </a:p>
            </p:txBody>
          </p:sp>
          <p:sp>
            <p:nvSpPr>
              <p:cNvPr id="33" name="Freeform 17"/>
              <p:cNvSpPr/>
              <p:nvPr/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s-AR"/>
              </a:p>
            </p:txBody>
          </p:sp>
          <p:sp>
            <p:nvSpPr>
              <p:cNvPr id="34" name="Freeform 18"/>
              <p:cNvSpPr/>
              <p:nvPr/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s-AR"/>
              </a:p>
            </p:txBody>
          </p:sp>
          <p:sp>
            <p:nvSpPr>
              <p:cNvPr id="35" name="Freeform 19"/>
              <p:cNvSpPr/>
              <p:nvPr/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s-AR"/>
              </a:p>
            </p:txBody>
          </p:sp>
          <p:sp>
            <p:nvSpPr>
              <p:cNvPr id="36" name="Freeform 20"/>
              <p:cNvSpPr>
                <a:spLocks noEditPoints="1"/>
              </p:cNvSpPr>
              <p:nvPr/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s-AR"/>
              </a:p>
            </p:txBody>
          </p:sp>
          <p:sp>
            <p:nvSpPr>
              <p:cNvPr id="37" name="Rectangle 21"/>
              <p:cNvSpPr>
                <a:spLocks noChangeArrowheads="1"/>
              </p:cNvSpPr>
              <p:nvPr/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s-AR"/>
              </a:p>
            </p:txBody>
          </p:sp>
          <p:sp>
            <p:nvSpPr>
              <p:cNvPr id="38" name="Freeform 22"/>
              <p:cNvSpPr/>
              <p:nvPr/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s-AR"/>
              </a:p>
            </p:txBody>
          </p:sp>
          <p:sp>
            <p:nvSpPr>
              <p:cNvPr id="39" name="Freeform 23"/>
              <p:cNvSpPr>
                <a:spLocks noEditPoints="1"/>
              </p:cNvSpPr>
              <p:nvPr/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s-AR"/>
              </a:p>
            </p:txBody>
          </p:sp>
          <p:sp>
            <p:nvSpPr>
              <p:cNvPr id="40" name="Freeform 24"/>
              <p:cNvSpPr/>
              <p:nvPr/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s-AR"/>
              </a:p>
            </p:txBody>
          </p:sp>
          <p:sp>
            <p:nvSpPr>
              <p:cNvPr id="41" name="Freeform 25"/>
              <p:cNvSpPr>
                <a:spLocks noEditPoints="1"/>
              </p:cNvSpPr>
              <p:nvPr/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s-AR"/>
              </a:p>
            </p:txBody>
          </p:sp>
          <p:sp>
            <p:nvSpPr>
              <p:cNvPr id="42" name="Freeform 26"/>
              <p:cNvSpPr/>
              <p:nvPr/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s-AR"/>
              </a:p>
            </p:txBody>
          </p:sp>
          <p:sp>
            <p:nvSpPr>
              <p:cNvPr id="43" name="Freeform 27"/>
              <p:cNvSpPr/>
              <p:nvPr/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s-AR"/>
              </a:p>
            </p:txBody>
          </p:sp>
          <p:sp>
            <p:nvSpPr>
              <p:cNvPr id="44" name="Freeform 28"/>
              <p:cNvSpPr>
                <a:spLocks noEditPoints="1"/>
              </p:cNvSpPr>
              <p:nvPr/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s-AR"/>
              </a:p>
            </p:txBody>
          </p:sp>
          <p:sp>
            <p:nvSpPr>
              <p:cNvPr id="45" name="Freeform 29"/>
              <p:cNvSpPr>
                <a:spLocks noEditPoints="1"/>
              </p:cNvSpPr>
              <p:nvPr/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s-AR"/>
              </a:p>
            </p:txBody>
          </p:sp>
          <p:sp>
            <p:nvSpPr>
              <p:cNvPr id="46" name="Freeform 30"/>
              <p:cNvSpPr/>
              <p:nvPr/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s-AR"/>
              </a:p>
            </p:txBody>
          </p:sp>
          <p:sp>
            <p:nvSpPr>
              <p:cNvPr id="47" name="Freeform 31"/>
              <p:cNvSpPr>
                <a:spLocks noEditPoints="1"/>
              </p:cNvSpPr>
              <p:nvPr/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s-AR"/>
              </a:p>
            </p:txBody>
          </p:sp>
        </p:grpSp>
        <p:grpSp>
          <p:nvGrpSpPr>
            <p:cNvPr id="10" name="Group 9"/>
            <p:cNvGrpSpPr/>
            <p:nvPr/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adFill flip="none" rotWithShape="1">
              <a:gsLst>
                <a:gs pos="0">
                  <a:schemeClr val="tx2">
                    <a:alpha val="80000"/>
                  </a:schemeClr>
                </a:gs>
                <a:gs pos="100000">
                  <a:schemeClr val="bg2">
                    <a:lumMod val="60000"/>
                    <a:lumOff val="40000"/>
                    <a:alpha val="6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11" name="Freeform 32"/>
              <p:cNvSpPr/>
              <p:nvPr/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s-AR"/>
              </a:p>
            </p:txBody>
          </p:sp>
          <p:sp>
            <p:nvSpPr>
              <p:cNvPr id="12" name="Freeform 33"/>
              <p:cNvSpPr>
                <a:spLocks noEditPoints="1"/>
              </p:cNvSpPr>
              <p:nvPr/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s-AR"/>
              </a:p>
            </p:txBody>
          </p:sp>
          <p:sp>
            <p:nvSpPr>
              <p:cNvPr id="13" name="Freeform 34"/>
              <p:cNvSpPr>
                <a:spLocks noEditPoints="1"/>
              </p:cNvSpPr>
              <p:nvPr/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s-AR"/>
              </a:p>
            </p:txBody>
          </p:sp>
          <p:sp>
            <p:nvSpPr>
              <p:cNvPr id="14" name="Freeform 35"/>
              <p:cNvSpPr/>
              <p:nvPr/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s-AR"/>
              </a:p>
            </p:txBody>
          </p:sp>
          <p:sp>
            <p:nvSpPr>
              <p:cNvPr id="15" name="Freeform 36"/>
              <p:cNvSpPr>
                <a:spLocks noEditPoints="1"/>
              </p:cNvSpPr>
              <p:nvPr/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s-AR"/>
              </a:p>
            </p:txBody>
          </p:sp>
          <p:sp>
            <p:nvSpPr>
              <p:cNvPr id="16" name="Freeform 37"/>
              <p:cNvSpPr/>
              <p:nvPr/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s-AR"/>
              </a:p>
            </p:txBody>
          </p:sp>
          <p:sp>
            <p:nvSpPr>
              <p:cNvPr id="17" name="Freeform 38"/>
              <p:cNvSpPr>
                <a:spLocks noEditPoints="1"/>
              </p:cNvSpPr>
              <p:nvPr/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s-AR"/>
              </a:p>
            </p:txBody>
          </p:sp>
          <p:sp>
            <p:nvSpPr>
              <p:cNvPr id="18" name="Freeform 39"/>
              <p:cNvSpPr/>
              <p:nvPr/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s-AR"/>
              </a:p>
            </p:txBody>
          </p:sp>
          <p:sp>
            <p:nvSpPr>
              <p:cNvPr id="19" name="Freeform 40"/>
              <p:cNvSpPr>
                <a:spLocks noEditPoints="1"/>
              </p:cNvSpPr>
              <p:nvPr/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s-AR"/>
              </a:p>
            </p:txBody>
          </p:sp>
          <p:sp>
            <p:nvSpPr>
              <p:cNvPr id="20" name="Rectangle 41"/>
              <p:cNvSpPr>
                <a:spLocks noChangeArrowheads="1"/>
              </p:cNvSpPr>
              <p:nvPr/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s-AR"/>
              </a:p>
            </p:txBody>
          </p:sp>
        </p:grp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2" y="2249487"/>
            <a:ext cx="9905999" cy="354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A87A34-81AB-432B-8DAE-1953F412C126}" type="datetimeFigureOut">
              <a:rPr lang="en-US" dirty="0"/>
              <a:pPr/>
              <a:t>11/16/2025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D22F896-40B5-4ADD-8801-0D06FADFA095}" type="slidenum">
              <a:rPr lang="en-US" dirty="0"/>
              <a:pPr/>
              <a:t>‹Nº›</a:t>
            </a:fld>
            <a:endParaRPr lang="en-US" dirty="0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60" r:id="rId10"/>
    <p:sldLayoutId id="2147483661" r:id="rId11"/>
    <p:sldLayoutId id="2147483666" r:id="rId12"/>
    <p:sldLayoutId id="2147483663" r:id="rId13"/>
    <p:sldLayoutId id="2147483667" r:id="rId14"/>
    <p:sldLayoutId id="2147483668" r:id="rId15"/>
    <p:sldLayoutId id="2147483658" r:id="rId16"/>
    <p:sldLayoutId id="2147483659" r:id="rId1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125000"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B4924BE-C9D2-72FC-1CCC-F04AF65D92A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86256" y="1466492"/>
            <a:ext cx="8791575" cy="2387600"/>
          </a:xfrm>
        </p:spPr>
        <p:txBody>
          <a:bodyPr>
            <a:noAutofit/>
          </a:bodyPr>
          <a:lstStyle/>
          <a:p>
            <a:r>
              <a:rPr lang="es-ES" sz="6600" dirty="0">
                <a:solidFill>
                  <a:schemeClr val="accent3">
                    <a:lumMod val="75000"/>
                  </a:schemeClr>
                </a:solidFill>
              </a:rPr>
              <a:t>Tp-integrador </a:t>
            </a:r>
            <a:br>
              <a:rPr lang="es-ES" sz="6600" dirty="0">
                <a:solidFill>
                  <a:schemeClr val="accent3">
                    <a:lumMod val="75000"/>
                  </a:schemeClr>
                </a:solidFill>
              </a:rPr>
            </a:br>
            <a:r>
              <a:rPr lang="es-ES" sz="6600" dirty="0">
                <a:solidFill>
                  <a:schemeClr val="accent3">
                    <a:lumMod val="75000"/>
                  </a:schemeClr>
                </a:solidFill>
              </a:rPr>
              <a:t>servicio de correo electronico</a:t>
            </a:r>
            <a:endParaRPr lang="es-AR" sz="6600" dirty="0">
              <a:solidFill>
                <a:schemeClr val="accent3">
                  <a:lumMod val="75000"/>
                </a:schemeClr>
              </a:solidFill>
            </a:endParaRP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9E7788A7-BFE6-1201-1B1A-1AAB3B7BC0D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86256" y="4378787"/>
            <a:ext cx="8791575" cy="1655762"/>
          </a:xfrm>
        </p:spPr>
        <p:txBody>
          <a:bodyPr>
            <a:normAutofit fontScale="92500" lnSpcReduction="20000"/>
          </a:bodyPr>
          <a:lstStyle/>
          <a:p>
            <a:r>
              <a:rPr lang="es-ES" dirty="0">
                <a:solidFill>
                  <a:schemeClr val="bg1"/>
                </a:solidFill>
              </a:rPr>
              <a:t>Asignatura 271- Estructuras de datos</a:t>
            </a:r>
          </a:p>
          <a:p>
            <a:r>
              <a:rPr lang="es-ES" dirty="0">
                <a:solidFill>
                  <a:schemeClr val="bg1"/>
                </a:solidFill>
              </a:rPr>
              <a:t>Integrantes Grupo 7:</a:t>
            </a:r>
          </a:p>
          <a:p>
            <a:r>
              <a:rPr lang="es-ES" dirty="0">
                <a:solidFill>
                  <a:schemeClr val="bg1"/>
                </a:solidFill>
              </a:rPr>
              <a:t>Rodrigo podoba , miguel miguez, juan francisco rubio  </a:t>
            </a:r>
          </a:p>
          <a:p>
            <a:r>
              <a:rPr lang="es-ES" dirty="0">
                <a:solidFill>
                  <a:schemeClr val="bg1"/>
                </a:solidFill>
              </a:rPr>
              <a:t>Profesor ángel Leonardo Bianco</a:t>
            </a:r>
            <a:endParaRPr lang="es-AR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650680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D814CCA-599D-72FF-6ACF-F582E9C793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2116" y="693173"/>
            <a:ext cx="9905998" cy="1478570"/>
          </a:xfrm>
        </p:spPr>
        <p:txBody>
          <a:bodyPr>
            <a:normAutofit/>
          </a:bodyPr>
          <a:lstStyle/>
          <a:p>
            <a:r>
              <a:rPr lang="es-ES" sz="4000" b="1" dirty="0">
                <a:solidFill>
                  <a:schemeClr val="accent3">
                    <a:lumMod val="75000"/>
                  </a:schemeClr>
                </a:solidFill>
              </a:rPr>
              <a:t>Contexto y Desafío del Proyecto</a:t>
            </a:r>
            <a:br>
              <a:rPr lang="es-ES" b="1" dirty="0">
                <a:solidFill>
                  <a:schemeClr val="accent3">
                    <a:lumMod val="75000"/>
                  </a:schemeClr>
                </a:solidFill>
              </a:rPr>
            </a:br>
            <a:r>
              <a:rPr lang="es-ES" sz="2200" dirty="0">
                <a:solidFill>
                  <a:schemeClr val="bg1"/>
                </a:solidFill>
              </a:rPr>
              <a:t>Aplicación de estructuras de datos para resolver desafíos de gestión y rendimiento en un sistema de correo electrónico.</a:t>
            </a:r>
            <a:endParaRPr lang="es-AR" sz="2200" dirty="0">
              <a:solidFill>
                <a:schemeClr val="bg1"/>
              </a:solidFill>
            </a:endParaRP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4CF91379-D1F9-D94B-709E-8D3220D558E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3000" y="2675560"/>
            <a:ext cx="9905999" cy="4021395"/>
          </a:xfrm>
        </p:spPr>
        <p:txBody>
          <a:bodyPr>
            <a:normAutofit fontScale="92500"/>
          </a:bodyPr>
          <a:lstStyle/>
          <a:p>
            <a:pPr marL="0" indent="0">
              <a:buNone/>
            </a:pPr>
            <a:r>
              <a:rPr lang="es-ES" b="1" dirty="0">
                <a:solidFill>
                  <a:schemeClr val="accent3">
                    <a:lumMod val="75000"/>
                  </a:schemeClr>
                </a:solidFill>
              </a:rPr>
              <a:t>Flujo Principal:</a:t>
            </a:r>
            <a:r>
              <a:rPr lang="es-ES" dirty="0">
                <a:solidFill>
                  <a:schemeClr val="accent3">
                    <a:lumMod val="75000"/>
                  </a:schemeClr>
                </a:solidFill>
              </a:rPr>
              <a:t> </a:t>
            </a:r>
            <a:r>
              <a:rPr lang="es-ES" dirty="0">
                <a:solidFill>
                  <a:schemeClr val="bg1"/>
                </a:solidFill>
              </a:rPr>
              <a:t>Implementar un servicio capaz de gestionar, almacenar y enrutar eficientemente el volumen creciente de la comunicación digital.</a:t>
            </a:r>
          </a:p>
          <a:p>
            <a:pPr marL="0" indent="0">
              <a:buNone/>
            </a:pPr>
            <a:endParaRPr lang="es-ES" dirty="0"/>
          </a:p>
          <a:p>
            <a:pPr marL="0" indent="0">
              <a:buNone/>
            </a:pPr>
            <a:r>
              <a:rPr lang="es-ES" b="1" dirty="0">
                <a:solidFill>
                  <a:schemeClr val="accent3">
                    <a:lumMod val="75000"/>
                  </a:schemeClr>
                </a:solidFill>
              </a:rPr>
              <a:t>Gestión de Urgencia:</a:t>
            </a:r>
            <a:r>
              <a:rPr lang="es-ES" dirty="0">
                <a:solidFill>
                  <a:schemeClr val="accent3">
                    <a:lumMod val="75000"/>
                  </a:schemeClr>
                </a:solidFill>
              </a:rPr>
              <a:t> </a:t>
            </a:r>
            <a:r>
              <a:rPr lang="es-ES" dirty="0">
                <a:solidFill>
                  <a:schemeClr val="bg1"/>
                </a:solidFill>
              </a:rPr>
              <a:t>Necesidad de un sistema que respete la prioridad de los mensajes para tareas críticas del servidor (resuelto con Heap).</a:t>
            </a:r>
          </a:p>
          <a:p>
            <a:pPr marL="0" indent="0">
              <a:buNone/>
            </a:pPr>
            <a:endParaRPr lang="es-ES" dirty="0"/>
          </a:p>
          <a:p>
            <a:pPr marL="0" indent="0">
              <a:buNone/>
            </a:pPr>
            <a:r>
              <a:rPr lang="es-ES" b="1" dirty="0">
                <a:solidFill>
                  <a:schemeClr val="accent3">
                    <a:lumMod val="75000"/>
                  </a:schemeClr>
                </a:solidFill>
              </a:rPr>
              <a:t>Organización Compleja:</a:t>
            </a:r>
            <a:r>
              <a:rPr lang="es-ES" dirty="0">
                <a:solidFill>
                  <a:schemeClr val="accent3">
                    <a:lumMod val="75000"/>
                  </a:schemeClr>
                </a:solidFill>
              </a:rPr>
              <a:t> </a:t>
            </a:r>
            <a:r>
              <a:rPr lang="es-ES" dirty="0">
                <a:solidFill>
                  <a:schemeClr val="bg1"/>
                </a:solidFill>
              </a:rPr>
              <a:t>Permitir al usuario la creación de jerarquías de carpetas anidadas para organizar su bandeja (resuelto con Árbol y Recursividad).</a:t>
            </a:r>
          </a:p>
          <a:p>
            <a:endParaRPr lang="es-AR" dirty="0"/>
          </a:p>
        </p:txBody>
      </p:sp>
    </p:spTree>
    <p:extLst>
      <p:ext uri="{BB962C8B-B14F-4D97-AF65-F5344CB8AC3E}">
        <p14:creationId xmlns:p14="http://schemas.microsoft.com/office/powerpoint/2010/main" val="3242460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391F06A-3C07-1FBE-E219-7C3475F613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s-ES" sz="4400" b="1" dirty="0">
                <a:solidFill>
                  <a:schemeClr val="accent3">
                    <a:lumMod val="75000"/>
                  </a:schemeClr>
                </a:solidFill>
              </a:rPr>
              <a:t>Alcance y Componentes Clave:</a:t>
            </a:r>
            <a:br>
              <a:rPr lang="es-ES" sz="4000" b="1" dirty="0"/>
            </a:br>
            <a:br>
              <a:rPr lang="es-ES" dirty="0"/>
            </a:br>
            <a:endParaRPr lang="es-AR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5419D103-A869-4B46-4653-0EA658EA27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62754" y="1514169"/>
            <a:ext cx="9905999" cy="4725314"/>
          </a:xfrm>
        </p:spPr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es-ES" b="1" dirty="0">
                <a:solidFill>
                  <a:schemeClr val="accent3">
                    <a:lumMod val="75000"/>
                  </a:schemeClr>
                </a:solidFill>
              </a:rPr>
              <a:t>Arquitectura Modular:</a:t>
            </a:r>
            <a:r>
              <a:rPr lang="es-ES" dirty="0">
                <a:solidFill>
                  <a:schemeClr val="accent3">
                    <a:lumMod val="75000"/>
                  </a:schemeClr>
                </a:solidFill>
              </a:rPr>
              <a:t> </a:t>
            </a:r>
            <a:r>
              <a:rPr lang="es-ES" dirty="0">
                <a:solidFill>
                  <a:schemeClr val="bg1"/>
                </a:solidFill>
              </a:rPr>
              <a:t>El sistema fue diseñado bajo una estructura modularizada (separando Server, Usuario, Mensaje y Carpeta) para facilitar el desarrollo, la comprensión y el mantenimiento.</a:t>
            </a:r>
          </a:p>
          <a:p>
            <a:pPr marL="0" indent="0">
              <a:buNone/>
            </a:pPr>
            <a:endParaRPr lang="es-ES" dirty="0"/>
          </a:p>
          <a:p>
            <a:pPr marL="0" indent="0">
              <a:buNone/>
            </a:pPr>
            <a:r>
              <a:rPr lang="es-ES" b="1" dirty="0">
                <a:solidFill>
                  <a:schemeClr val="accent3">
                    <a:lumMod val="75000"/>
                  </a:schemeClr>
                </a:solidFill>
              </a:rPr>
              <a:t>Servidor (ServidorCorreo):</a:t>
            </a:r>
            <a:r>
              <a:rPr lang="es-ES" dirty="0">
                <a:solidFill>
                  <a:schemeClr val="accent3">
                    <a:lumMod val="75000"/>
                  </a:schemeClr>
                </a:solidFill>
              </a:rPr>
              <a:t> </a:t>
            </a:r>
            <a:r>
              <a:rPr lang="es-ES" dirty="0">
                <a:solidFill>
                  <a:schemeClr val="bg1"/>
                </a:solidFill>
              </a:rPr>
              <a:t>Actúa como el núcleo centralizado, manejando el registro de usuarios, la autenticación y el enrutamiento de mensajes. Es el gestor de la Cola de Prioridad (Heap).</a:t>
            </a:r>
          </a:p>
          <a:p>
            <a:pPr marL="0" indent="0">
              <a:buNone/>
            </a:pPr>
            <a:endParaRPr lang="es-ES" dirty="0"/>
          </a:p>
          <a:p>
            <a:pPr marL="0" indent="0">
              <a:buNone/>
            </a:pPr>
            <a:r>
              <a:rPr lang="es-ES" b="1" dirty="0">
                <a:solidFill>
                  <a:schemeClr val="accent3">
                    <a:lumMod val="75000"/>
                  </a:schemeClr>
                </a:solidFill>
              </a:rPr>
              <a:t>Gestión del Usuario (Usuario):</a:t>
            </a:r>
            <a:r>
              <a:rPr lang="es-ES" dirty="0">
                <a:solidFill>
                  <a:schemeClr val="accent3">
                    <a:lumMod val="75000"/>
                  </a:schemeClr>
                </a:solidFill>
              </a:rPr>
              <a:t> </a:t>
            </a:r>
            <a:r>
              <a:rPr lang="es-ES" dirty="0">
                <a:solidFill>
                  <a:schemeClr val="bg1"/>
                </a:solidFill>
              </a:rPr>
              <a:t>Se encarga de la gestión individual. Contiene la estructura de Árbol de carpetas y aplica los Filtros Automáticos al recibir un nuevo mensaje.</a:t>
            </a:r>
          </a:p>
          <a:p>
            <a:pPr marL="0" indent="0">
              <a:buNone/>
            </a:pPr>
            <a:endParaRPr lang="es-ES" dirty="0"/>
          </a:p>
          <a:p>
            <a:pPr marL="0" indent="0">
              <a:buNone/>
            </a:pPr>
            <a:r>
              <a:rPr lang="es-ES" b="1" dirty="0">
                <a:solidFill>
                  <a:schemeClr val="accent3">
                    <a:lumMod val="75000"/>
                  </a:schemeClr>
                </a:solidFill>
              </a:rPr>
              <a:t>Mensaje (Mensaje):</a:t>
            </a:r>
            <a:r>
              <a:rPr lang="es-ES" dirty="0">
                <a:solidFill>
                  <a:schemeClr val="accent3">
                    <a:lumMod val="75000"/>
                  </a:schemeClr>
                </a:solidFill>
              </a:rPr>
              <a:t> </a:t>
            </a:r>
            <a:r>
              <a:rPr lang="es-ES" dirty="0">
                <a:solidFill>
                  <a:schemeClr val="bg1"/>
                </a:solidFill>
              </a:rPr>
              <a:t>Es una clase de datos inmutable. Incorpora la información esencial y el atributo de prioridad opcional (rango 1 a 5) para integrarse con el Heap.</a:t>
            </a:r>
          </a:p>
          <a:p>
            <a:endParaRPr lang="es-AR" dirty="0"/>
          </a:p>
        </p:txBody>
      </p:sp>
    </p:spTree>
    <p:extLst>
      <p:ext uri="{BB962C8B-B14F-4D97-AF65-F5344CB8AC3E}">
        <p14:creationId xmlns:p14="http://schemas.microsoft.com/office/powerpoint/2010/main" val="401735433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5E56866-2966-02F7-3937-00DB08C19B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AR" sz="4400" b="1" dirty="0">
                <a:solidFill>
                  <a:schemeClr val="accent3">
                    <a:lumMod val="75000"/>
                  </a:schemeClr>
                </a:solidFill>
              </a:rPr>
              <a:t>Objetivos del Proyecto</a:t>
            </a:r>
            <a:br>
              <a:rPr lang="es-AR" b="1" dirty="0"/>
            </a:br>
            <a:endParaRPr lang="es-AR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10D7201B-411A-CE0B-489F-8554A7DCDA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s-ES" b="1" dirty="0">
                <a:solidFill>
                  <a:schemeClr val="accent3">
                    <a:lumMod val="75000"/>
                  </a:schemeClr>
                </a:solidFill>
              </a:rPr>
              <a:t>Objetivo Académico:</a:t>
            </a:r>
            <a:r>
              <a:rPr lang="es-ES" dirty="0">
                <a:solidFill>
                  <a:schemeClr val="accent3">
                    <a:lumMod val="75000"/>
                  </a:schemeClr>
                </a:solidFill>
              </a:rPr>
              <a:t> </a:t>
            </a:r>
            <a:r>
              <a:rPr lang="es-ES" dirty="0">
                <a:solidFill>
                  <a:schemeClr val="bg1"/>
                </a:solidFill>
              </a:rPr>
              <a:t>Aplicar y demostrar el uso eficiente de estructuras de datos no lineales, específicamente </a:t>
            </a:r>
            <a:r>
              <a:rPr lang="es-ES" dirty="0">
                <a:solidFill>
                  <a:schemeClr val="accent3">
                    <a:lumMod val="75000"/>
                  </a:schemeClr>
                </a:solidFill>
              </a:rPr>
              <a:t>Árboles</a:t>
            </a:r>
            <a:r>
              <a:rPr lang="es-ES" dirty="0">
                <a:solidFill>
                  <a:schemeClr val="bg1"/>
                </a:solidFill>
              </a:rPr>
              <a:t> (para la jerarquía de carpetas) y </a:t>
            </a:r>
            <a:r>
              <a:rPr lang="es-ES" dirty="0">
                <a:solidFill>
                  <a:schemeClr val="accent3">
                    <a:lumMod val="75000"/>
                  </a:schemeClr>
                </a:solidFill>
              </a:rPr>
              <a:t>Heaps</a:t>
            </a:r>
            <a:r>
              <a:rPr lang="es-ES" dirty="0">
                <a:solidFill>
                  <a:schemeClr val="bg1"/>
                </a:solidFill>
              </a:rPr>
              <a:t> (para la gestión de prioridad de mensajes).</a:t>
            </a:r>
          </a:p>
          <a:p>
            <a:pPr marL="0" indent="0">
              <a:buNone/>
            </a:pPr>
            <a:r>
              <a:rPr lang="es-ES" b="1" dirty="0">
                <a:solidFill>
                  <a:schemeClr val="accent3">
                    <a:lumMod val="75000"/>
                  </a:schemeClr>
                </a:solidFill>
              </a:rPr>
              <a:t>Objetivo de Rendimiento:</a:t>
            </a:r>
            <a:r>
              <a:rPr lang="es-ES" dirty="0">
                <a:solidFill>
                  <a:schemeClr val="accent3">
                    <a:lumMod val="75000"/>
                  </a:schemeClr>
                </a:solidFill>
              </a:rPr>
              <a:t> </a:t>
            </a:r>
            <a:r>
              <a:rPr lang="es-ES" dirty="0">
                <a:solidFill>
                  <a:schemeClr val="bg1"/>
                </a:solidFill>
              </a:rPr>
              <a:t>Garantizar que las operaciones críticas mantengan una complejidad temporal logarítmica (</a:t>
            </a:r>
            <a:r>
              <a:rPr lang="es-AR" dirty="0">
                <a:solidFill>
                  <a:schemeClr val="bg1"/>
                </a:solidFill>
              </a:rPr>
              <a:t>O(log n)</a:t>
            </a:r>
            <a:r>
              <a:rPr lang="es-ES" dirty="0">
                <a:solidFill>
                  <a:schemeClr val="bg1"/>
                </a:solidFill>
              </a:rPr>
              <a:t>), asegurando la escalabilidad del servicio.</a:t>
            </a:r>
          </a:p>
          <a:p>
            <a:pPr marL="0" indent="0">
              <a:buNone/>
            </a:pPr>
            <a:r>
              <a:rPr lang="es-ES" b="1" dirty="0">
                <a:solidFill>
                  <a:schemeClr val="accent3">
                    <a:lumMod val="75000"/>
                  </a:schemeClr>
                </a:solidFill>
              </a:rPr>
              <a:t>Objetivo Funcional:</a:t>
            </a:r>
            <a:r>
              <a:rPr lang="es-ES" dirty="0">
                <a:solidFill>
                  <a:schemeClr val="accent3">
                    <a:lumMod val="75000"/>
                  </a:schemeClr>
                </a:solidFill>
              </a:rPr>
              <a:t> </a:t>
            </a:r>
            <a:r>
              <a:rPr lang="es-ES" dirty="0">
                <a:solidFill>
                  <a:schemeClr val="bg1"/>
                </a:solidFill>
              </a:rPr>
              <a:t>Implementar algoritmos de recorrido recursivos (incluyendo DFS y BFS) que permitan la gestión avanzada de mensajes y la navegación completa por la estructura de carpetas anidadas.</a:t>
            </a:r>
          </a:p>
          <a:p>
            <a:endParaRPr lang="es-AR" dirty="0"/>
          </a:p>
        </p:txBody>
      </p:sp>
    </p:spTree>
    <p:extLst>
      <p:ext uri="{BB962C8B-B14F-4D97-AF65-F5344CB8AC3E}">
        <p14:creationId xmlns:p14="http://schemas.microsoft.com/office/powerpoint/2010/main" val="258381165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EBE85E4-6237-8244-774E-54E851867B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B2852504-F4D2-9629-1E72-6848C65195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29784583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2A0C4EF-A1DE-2EC4-8EF9-7E4465679B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21A3C995-D6B5-BB70-FCCC-7BF5C7BBE2E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329968982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F424629-0ADE-CA48-692C-66B731B702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FBD6E9F3-7214-313D-49F1-F257D819335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388412529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98BC0C7-9F9B-BA26-4DD0-BFB3AA0D30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68D7300B-CF1C-7BB7-BCC2-C07BFF692D1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236121110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73F2B30-E320-34BE-E050-B4E6042C23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97413554-27DD-91FF-20D4-7D6D625DB2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17956613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0CCF51F-DA32-C3F8-2425-E68159C492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F6646D0E-F9EE-E62A-2058-F1B40CE786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417325447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01F0130-C055-BBF8-EE79-81C43A7FC6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E35F3912-C90F-D0D8-927B-3A7E29356C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45871534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D413A19-E860-4E46-94D1-8874108FE9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9887BC12-E315-5E7C-A27F-6779E45D283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226333378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B431A3B-E74C-DC4A-2E73-081AE7158D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02FE94E8-1AF2-21CB-880A-D6670AC653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3310516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27F7760-75C5-09E2-CACF-45A0C8EEFE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C29FC9B0-875F-DA62-5257-6878291865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426595303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3385743-B34A-F084-2B64-4BA682D7D6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32BC5B96-D380-CB05-86EF-08EB070A9A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58606405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B751122-E703-C724-2015-EE2210183E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9EB43641-DB6B-A93F-6B2C-CEFE4B7AE23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379778222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EC48206-CDF8-C475-172A-2EBC792C57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929205EA-9F01-2B14-6C98-244C31AD8F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351823246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226CCDD-F492-B256-6184-A8F23B735F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2DE14971-C6F1-315B-4D01-7B2EF49ADC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210019662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CA7D2AC-7F3B-A292-0310-AE1B081A60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EBCB3592-E7DB-0B36-6A06-4CBF44C8B7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89129978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8A2CEAD-9571-6010-96CD-16B2A4DB00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0B205B3A-35AE-8E23-43D3-8791CDF390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1945968711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ircuito">
  <a:themeElements>
    <a:clrScheme name="Circuit">
      <a:dk1>
        <a:sysClr val="windowText" lastClr="000000"/>
      </a:dk1>
      <a:lt1>
        <a:sysClr val="window" lastClr="FFFFFF"/>
      </a:lt1>
      <a:dk2>
        <a:srgbClr val="134770"/>
      </a:dk2>
      <a:lt2>
        <a:srgbClr val="82FFFF"/>
      </a:lt2>
      <a:accent1>
        <a:srgbClr val="9ACD4C"/>
      </a:accent1>
      <a:accent2>
        <a:srgbClr val="FAA93A"/>
      </a:accent2>
      <a:accent3>
        <a:srgbClr val="D35940"/>
      </a:accent3>
      <a:accent4>
        <a:srgbClr val="B258D3"/>
      </a:accent4>
      <a:accent5>
        <a:srgbClr val="63A0CC"/>
      </a:accent5>
      <a:accent6>
        <a:srgbClr val="8AC4A7"/>
      </a:accent6>
      <a:hlink>
        <a:srgbClr val="B8FA56"/>
      </a:hlink>
      <a:folHlink>
        <a:srgbClr val="7AF8CC"/>
      </a:folHlink>
    </a:clrScheme>
    <a:fontScheme name="Circui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ircuit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108000"/>
                <a:lumMod val="110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040000" scaled="0"/>
        </a:gradFill>
        <a:gradFill rotWithShape="1">
          <a:gsLst>
            <a:gs pos="0">
              <a:schemeClr val="phClr">
                <a:tint val="94000"/>
                <a:satMod val="105000"/>
                <a:lumMod val="102000"/>
              </a:schemeClr>
            </a:gs>
            <a:gs pos="100000">
              <a:schemeClr val="phClr">
                <a:shade val="74000"/>
                <a:satMod val="128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94000"/>
                <a:satMod val="148000"/>
                <a:lumMod val="150000"/>
              </a:schemeClr>
            </a:gs>
            <a:gs pos="100000">
              <a:schemeClr val="phClr">
                <a:shade val="92000"/>
                <a:hueMod val="104000"/>
                <a:satMod val="140000"/>
                <a:lumMod val="68000"/>
              </a:schemeClr>
            </a:gs>
          </a:gsLst>
          <a:lin ang="5040000" scaled="0"/>
        </a:gradFill>
        <a:blipFill>
          <a:blip xmlns:r="http://schemas.openxmlformats.org/officeDocument/2006/relationships" r:embed="rId1">
            <a:duotone>
              <a:schemeClr val="phClr">
                <a:shade val="88000"/>
                <a:hueMod val="106000"/>
                <a:satMod val="140000"/>
                <a:lumMod val="54000"/>
              </a:schemeClr>
              <a:schemeClr val="phClr">
                <a:tint val="98000"/>
                <a:hueMod val="90000"/>
                <a:satMod val="150000"/>
                <a:lumMod val="16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ircuit" id="{0AC2F7E7-15F5-431C-B2A2-456FE929F56C}" vid="{0911B802-464C-4241-8DD9-B60FF88E379F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TM04033919[[fn=Circuito]]</Template>
  <TotalTime>1970</TotalTime>
  <Words>361</Words>
  <Application>Microsoft Office PowerPoint</Application>
  <PresentationFormat>Panorámica</PresentationFormat>
  <Paragraphs>23</Paragraphs>
  <Slides>20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20</vt:i4>
      </vt:variant>
    </vt:vector>
  </HeadingPairs>
  <TitlesOfParts>
    <vt:vector size="23" baseType="lpstr">
      <vt:lpstr>Arial</vt:lpstr>
      <vt:lpstr>Tw Cen MT</vt:lpstr>
      <vt:lpstr>Circuito</vt:lpstr>
      <vt:lpstr>Tp-integrador  servicio de correo electronico</vt:lpstr>
      <vt:lpstr>Contexto y Desafío del Proyecto Aplicación de estructuras de datos para resolver desafíos de gestión y rendimiento en un sistema de correo electrónico.</vt:lpstr>
      <vt:lpstr>Alcance y Componentes Clave:  </vt:lpstr>
      <vt:lpstr>Objetivos del Proyecto 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pancho rubio</dc:creator>
  <cp:lastModifiedBy>pancho rubio</cp:lastModifiedBy>
  <cp:revision>1</cp:revision>
  <dcterms:created xsi:type="dcterms:W3CDTF">2025-11-17T00:55:16Z</dcterms:created>
  <dcterms:modified xsi:type="dcterms:W3CDTF">2025-11-18T09:45:31Z</dcterms:modified>
</cp:coreProperties>
</file>