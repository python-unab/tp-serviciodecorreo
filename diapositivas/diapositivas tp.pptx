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2B614F8-FBFB-4AA5-B456-E7C0A61BC8F2}">
  <a:tblStyle styleId="{E2B614F8-FBFB-4AA5-B456-E7C0A61BC8F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24" Type="http://schemas.openxmlformats.org/officeDocument/2006/relationships/slide" Target="slides/slide19.xml"/><Relationship Id="rId12" Type="http://schemas.openxmlformats.org/officeDocument/2006/relationships/slide" Target="slides/slide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a82df1557d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3a82df1557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a82df1557d_0_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a82df1557d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a832729c2a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a832729c2a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showMasterSp="0" type="title">
  <p:cSld name="TITLE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\\DROBO-FS\QuickDrops\JB\PPTX NG\Droplets\LightingOverlay.png" id="53" name="Google Shape;53;p2"/>
          <p:cNvPicPr preferRelativeResize="0"/>
          <p:nvPr/>
        </p:nvPicPr>
        <p:blipFill rotWithShape="1">
          <a:blip r:embed="rId2">
            <a:alphaModFix amt="30000"/>
          </a:blip>
          <a:srcRect b="0" l="0" r="0" t="0"/>
          <a:stretch/>
        </p:blipFill>
        <p:spPr>
          <a:xfrm>
            <a:off x="0" y="-1"/>
            <a:ext cx="12192003" cy="68580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4" name="Google Shape;54;p2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</p:grpSpPr>
        <p:sp>
          <p:nvSpPr>
            <p:cNvPr id="55" name="Google Shape;55;p2"/>
            <p:cNvSpPr/>
            <p:nvPr/>
          </p:nvSpPr>
          <p:spPr>
            <a:xfrm>
              <a:off x="1209675" y="4763"/>
              <a:ext cx="23813" cy="2181225"/>
            </a:xfrm>
            <a:prstGeom prst="rect">
              <a:avLst/>
            </a:pr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1128713" y="2176463"/>
              <a:ext cx="190500" cy="190500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1123950" y="4021138"/>
              <a:ext cx="190500" cy="188913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414338" y="9525"/>
              <a:ext cx="28575" cy="4481513"/>
            </a:xfrm>
            <a:prstGeom prst="rect">
              <a:avLst/>
            </a:pr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333375" y="4481513"/>
              <a:ext cx="190500" cy="190500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190500" y="9525"/>
              <a:ext cx="152400" cy="908050"/>
            </a:xfrm>
            <a:custGeom>
              <a:rect b="b" l="l" r="r" t="t"/>
              <a:pathLst>
                <a:path extrusionOk="0" h="572" w="96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1290638" y="14288"/>
              <a:ext cx="376238" cy="1801813"/>
            </a:xfrm>
            <a:custGeom>
              <a:rect b="b" l="l" r="r" t="t"/>
              <a:pathLst>
                <a:path extrusionOk="0" h="1135" w="237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1600200" y="1801813"/>
              <a:ext cx="190500" cy="188913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1381125" y="9525"/>
              <a:ext cx="371475" cy="1425575"/>
            </a:xfrm>
            <a:custGeom>
              <a:rect b="b" l="l" r="r" t="t"/>
              <a:pathLst>
                <a:path extrusionOk="0" h="898" w="234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1643063" y="0"/>
              <a:ext cx="152400" cy="912813"/>
            </a:xfrm>
            <a:custGeom>
              <a:rect b="b" l="l" r="r" t="t"/>
              <a:pathLst>
                <a:path extrusionOk="0" h="575" w="96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1685925" y="1420813"/>
              <a:ext cx="190500" cy="190500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1685925" y="903288"/>
              <a:ext cx="190500" cy="190500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1743075" y="4763"/>
              <a:ext cx="419100" cy="522288"/>
            </a:xfrm>
            <a:custGeom>
              <a:rect b="b" l="l" r="r" t="t"/>
              <a:pathLst>
                <a:path extrusionOk="0" h="329" w="264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2119313" y="488950"/>
              <a:ext cx="161925" cy="147638"/>
            </a:xfrm>
            <a:custGeom>
              <a:rect b="b" l="l" r="r" t="t"/>
              <a:pathLst>
                <a:path extrusionOk="0" h="31" w="34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952500" y="4763"/>
              <a:ext cx="152400" cy="908050"/>
            </a:xfrm>
            <a:custGeom>
              <a:rect b="b" l="l" r="r" t="t"/>
              <a:pathLst>
                <a:path extrusionOk="0" h="572" w="96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866775" y="903288"/>
              <a:ext cx="190500" cy="190500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890588" y="1554163"/>
              <a:ext cx="190500" cy="190500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738188" y="5622925"/>
              <a:ext cx="338138" cy="1216025"/>
            </a:xfrm>
            <a:custGeom>
              <a:rect b="b" l="l" r="r" t="t"/>
              <a:pathLst>
                <a:path extrusionOk="0" h="766" w="213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647700" y="5480050"/>
              <a:ext cx="157163" cy="157163"/>
            </a:xfrm>
            <a:custGeom>
              <a:rect b="b" l="l" r="r" t="t"/>
              <a:pathLst>
                <a:path extrusionOk="0" h="33" w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66675" y="903288"/>
              <a:ext cx="190500" cy="190500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0" y="3897313"/>
              <a:ext cx="133350" cy="266700"/>
            </a:xfrm>
            <a:custGeom>
              <a:rect b="b" l="l" r="r" t="t"/>
              <a:pathLst>
                <a:path extrusionOk="0" h="168" w="84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66675" y="4149725"/>
              <a:ext cx="190500" cy="188913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0" y="1644650"/>
              <a:ext cx="133350" cy="269875"/>
            </a:xfrm>
            <a:custGeom>
              <a:rect b="b" l="l" r="r" t="t"/>
              <a:pathLst>
                <a:path extrusionOk="0" h="170" w="84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66675" y="1468438"/>
              <a:ext cx="190500" cy="190500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695325" y="4763"/>
              <a:ext cx="309563" cy="1558925"/>
            </a:xfrm>
            <a:custGeom>
              <a:rect b="b" l="l" r="r" t="t"/>
              <a:pathLst>
                <a:path extrusionOk="0" h="982" w="195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57150" y="4881563"/>
              <a:ext cx="190500" cy="188913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138113" y="5060950"/>
              <a:ext cx="304800" cy="1778000"/>
            </a:xfrm>
            <a:custGeom>
              <a:rect b="b" l="l" r="r" t="t"/>
              <a:pathLst>
                <a:path extrusionOk="0" h="1120" w="192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561975" y="6430963"/>
              <a:ext cx="190500" cy="188913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642938" y="6610350"/>
              <a:ext cx="23813" cy="242888"/>
            </a:xfrm>
            <a:prstGeom prst="rect">
              <a:avLst/>
            </a:pr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76200" y="6430963"/>
              <a:ext cx="190500" cy="188913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0" y="5978525"/>
              <a:ext cx="190500" cy="461963"/>
            </a:xfrm>
            <a:custGeom>
              <a:rect b="b" l="l" r="r" t="t"/>
              <a:pathLst>
                <a:path extrusionOk="0" h="291" w="120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1014413" y="1801813"/>
              <a:ext cx="214313" cy="755650"/>
            </a:xfrm>
            <a:custGeom>
              <a:rect b="b" l="l" r="r" t="t"/>
              <a:pathLst>
                <a:path extrusionOk="0" h="476" w="135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938213" y="2547938"/>
              <a:ext cx="166688" cy="160338"/>
            </a:xfrm>
            <a:custGeom>
              <a:rect b="b" l="l" r="r" t="t"/>
              <a:pathLst>
                <a:path extrusionOk="0" h="34" w="35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595313" y="4763"/>
              <a:ext cx="638175" cy="4025900"/>
            </a:xfrm>
            <a:custGeom>
              <a:rect b="b" l="l" r="r" t="t"/>
              <a:pathLst>
                <a:path extrusionOk="0" h="2536" w="402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1223963" y="1382713"/>
              <a:ext cx="142875" cy="476250"/>
            </a:xfrm>
            <a:custGeom>
              <a:rect b="b" l="l" r="r" t="t"/>
              <a:pathLst>
                <a:path extrusionOk="0" h="300" w="9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1300163" y="1849438"/>
              <a:ext cx="109538" cy="107950"/>
            </a:xfrm>
            <a:custGeom>
              <a:rect b="b" l="l" r="r" t="t"/>
              <a:pathLst>
                <a:path extrusionOk="0" h="23" w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280988" y="3417888"/>
              <a:ext cx="142875" cy="474663"/>
            </a:xfrm>
            <a:custGeom>
              <a:rect b="b" l="l" r="r" t="t"/>
              <a:pathLst>
                <a:path extrusionOk="0" h="299" w="90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238125" y="3883025"/>
              <a:ext cx="109538" cy="109538"/>
            </a:xfrm>
            <a:custGeom>
              <a:rect b="b" l="l" r="r" t="t"/>
              <a:pathLst>
                <a:path extrusionOk="0" h="23" w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4763" y="2166938"/>
              <a:ext cx="114300" cy="452438"/>
            </a:xfrm>
            <a:custGeom>
              <a:rect b="b" l="l" r="r" t="t"/>
              <a:pathLst>
                <a:path extrusionOk="0" h="285" w="72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52388" y="2066925"/>
              <a:ext cx="109538" cy="109538"/>
            </a:xfrm>
            <a:custGeom>
              <a:rect b="b" l="l" r="r" t="t"/>
              <a:pathLst>
                <a:path extrusionOk="0" h="23" w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1228725" y="4662488"/>
              <a:ext cx="23813" cy="2181225"/>
            </a:xfrm>
            <a:prstGeom prst="rect">
              <a:avLst/>
            </a:pr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1319213" y="5041900"/>
              <a:ext cx="371475" cy="1801813"/>
            </a:xfrm>
            <a:custGeom>
              <a:rect b="b" l="l" r="r" t="t"/>
              <a:pathLst>
                <a:path extrusionOk="0" h="1135" w="234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147763" y="4481513"/>
              <a:ext cx="190500" cy="190500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819150" y="3983038"/>
              <a:ext cx="347663" cy="2860675"/>
            </a:xfrm>
            <a:custGeom>
              <a:rect b="b" l="l" r="r" t="t"/>
              <a:pathLst>
                <a:path extrusionOk="0" h="1802" w="219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728663" y="3806825"/>
              <a:ext cx="190500" cy="190500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624013" y="4867275"/>
              <a:ext cx="190500" cy="188913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1404938" y="5422900"/>
              <a:ext cx="371475" cy="1425575"/>
            </a:xfrm>
            <a:custGeom>
              <a:rect b="b" l="l" r="r" t="t"/>
              <a:pathLst>
                <a:path extrusionOk="0" h="898" w="234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1666875" y="5945188"/>
              <a:ext cx="152400" cy="912813"/>
            </a:xfrm>
            <a:custGeom>
              <a:rect b="b" l="l" r="r" t="t"/>
              <a:pathLst>
                <a:path extrusionOk="0" h="575" w="96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1709738" y="5246688"/>
              <a:ext cx="190500" cy="190500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1709738" y="5764213"/>
              <a:ext cx="190500" cy="190500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1766888" y="6330950"/>
              <a:ext cx="419100" cy="527050"/>
            </a:xfrm>
            <a:custGeom>
              <a:rect b="b" l="l" r="r" t="t"/>
              <a:pathLst>
                <a:path extrusionOk="0" h="332" w="264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2147888" y="6221413"/>
              <a:ext cx="157163" cy="147638"/>
            </a:xfrm>
            <a:custGeom>
              <a:rect b="b" l="l" r="r" t="t"/>
              <a:pathLst>
                <a:path extrusionOk="0" h="31" w="33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07" name="Google Shape;107;p2"/>
            <p:cNvSpPr/>
            <p:nvPr/>
          </p:nvSpPr>
          <p:spPr>
            <a:xfrm>
              <a:off x="504825" y="9525"/>
              <a:ext cx="233363" cy="5103813"/>
            </a:xfrm>
            <a:custGeom>
              <a:rect b="b" l="l" r="r" t="t"/>
              <a:pathLst>
                <a:path extrusionOk="0" h="3215" w="147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633413" y="5103813"/>
              <a:ext cx="185738" cy="185738"/>
            </a:xfrm>
            <a:custGeom>
              <a:rect b="b" l="l" r="r" t="t"/>
              <a:pathLst>
                <a:path extrusionOk="0" h="39" w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</p:grpSp>
      <p:sp>
        <p:nvSpPr>
          <p:cNvPr id="109" name="Google Shape;109;p2"/>
          <p:cNvSpPr txBox="1"/>
          <p:nvPr>
            <p:ph type="ctrTitle"/>
          </p:nvPr>
        </p:nvSpPr>
        <p:spPr>
          <a:xfrm>
            <a:off x="1876424" y="1122363"/>
            <a:ext cx="8791575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Twentieth Century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2"/>
          <p:cNvSpPr txBox="1"/>
          <p:nvPr>
            <p:ph idx="1" type="subTitle"/>
          </p:nvPr>
        </p:nvSpPr>
        <p:spPr>
          <a:xfrm>
            <a:off x="1876424" y="3602038"/>
            <a:ext cx="8791575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000" cap="none">
                <a:solidFill>
                  <a:schemeClr val="lt2"/>
                </a:solidFill>
              </a:defRPr>
            </a:lvl1pPr>
            <a:lvl2pPr lvl="1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1600"/>
            </a:lvl6pPr>
            <a:lvl7pPr lvl="6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1600"/>
            </a:lvl7pPr>
            <a:lvl8pPr lvl="7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1600"/>
            </a:lvl8pPr>
            <a:lvl9pPr lvl="8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1600"/>
            </a:lvl9pPr>
          </a:lstStyle>
          <a:p/>
        </p:txBody>
      </p:sp>
      <p:sp>
        <p:nvSpPr>
          <p:cNvPr id="111" name="Google Shape;111;p2"/>
          <p:cNvSpPr txBox="1"/>
          <p:nvPr>
            <p:ph idx="10" type="dt"/>
          </p:nvPr>
        </p:nvSpPr>
        <p:spPr>
          <a:xfrm>
            <a:off x="7077511" y="541020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p2"/>
          <p:cNvSpPr txBox="1"/>
          <p:nvPr>
            <p:ph idx="11" type="ftr"/>
          </p:nvPr>
        </p:nvSpPr>
        <p:spPr>
          <a:xfrm>
            <a:off x="1876424" y="5410201"/>
            <a:ext cx="512488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2"/>
          <p:cNvSpPr txBox="1"/>
          <p:nvPr>
            <p:ph idx="12" type="sldNum"/>
          </p:nvPr>
        </p:nvSpPr>
        <p:spPr>
          <a:xfrm>
            <a:off x="9896911" y="5410199"/>
            <a:ext cx="77108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3"/>
          <p:cNvSpPr txBox="1"/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3"/>
          <p:cNvSpPr txBox="1"/>
          <p:nvPr>
            <p:ph idx="1" type="body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71475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1pPr>
            <a:lvl2pPr indent="-371475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2pPr>
            <a:lvl3pPr indent="-371475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3pPr>
            <a:lvl4pPr indent="-371475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4pPr>
            <a:lvl5pPr indent="-371475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5pPr>
            <a:lvl6pPr indent="-371475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6pPr>
            <a:lvl7pPr indent="-371475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7pPr>
            <a:lvl8pPr indent="-371475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8pPr>
            <a:lvl9pPr indent="-371475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9pPr>
          </a:lstStyle>
          <a:p/>
        </p:txBody>
      </p:sp>
      <p:sp>
        <p:nvSpPr>
          <p:cNvPr id="117" name="Google Shape;117;p3"/>
          <p:cNvSpPr txBox="1"/>
          <p:nvPr>
            <p:ph idx="10" type="dt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3"/>
          <p:cNvSpPr txBox="1"/>
          <p:nvPr>
            <p:ph idx="11" type="ftr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3"/>
          <p:cNvSpPr txBox="1"/>
          <p:nvPr>
            <p:ph idx="12" type="sldNum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"/>
          <p:cNvSpPr txBox="1"/>
          <p:nvPr>
            <p:ph type="title"/>
          </p:nvPr>
        </p:nvSpPr>
        <p:spPr>
          <a:xfrm>
            <a:off x="1141411" y="1419226"/>
            <a:ext cx="99060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Twentieth Century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4"/>
          <p:cNvSpPr txBox="1"/>
          <p:nvPr>
            <p:ph idx="1" type="body"/>
          </p:nvPr>
        </p:nvSpPr>
        <p:spPr>
          <a:xfrm>
            <a:off x="1141411" y="4424362"/>
            <a:ext cx="9906000" cy="13747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50"/>
              <a:buNone/>
              <a:defRPr sz="1800" cap="none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None/>
              <a:defRPr sz="1800">
                <a:solidFill>
                  <a:schemeClr val="lt1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1600">
                <a:solidFill>
                  <a:schemeClr val="lt1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1600">
                <a:solidFill>
                  <a:schemeClr val="lt1"/>
                </a:solidFill>
              </a:defRPr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1600">
                <a:solidFill>
                  <a:schemeClr val="lt1"/>
                </a:solidFill>
              </a:defRPr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1600">
                <a:solidFill>
                  <a:schemeClr val="lt1"/>
                </a:solidFill>
              </a:defRPr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1600">
                <a:solidFill>
                  <a:schemeClr val="lt1"/>
                </a:solidFill>
              </a:defRPr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3" name="Google Shape;123;p4"/>
          <p:cNvSpPr txBox="1"/>
          <p:nvPr>
            <p:ph idx="10" type="dt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p4"/>
          <p:cNvSpPr txBox="1"/>
          <p:nvPr>
            <p:ph idx="11" type="ftr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p4"/>
          <p:cNvSpPr txBox="1"/>
          <p:nvPr>
            <p:ph idx="12" type="sldNum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"/>
          <p:cNvSpPr txBox="1"/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5"/>
          <p:cNvSpPr txBox="1"/>
          <p:nvPr>
            <p:ph idx="1" type="body"/>
          </p:nvPr>
        </p:nvSpPr>
        <p:spPr>
          <a:xfrm>
            <a:off x="1141410" y="2249486"/>
            <a:ext cx="4878389" cy="35417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71475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1pPr>
            <a:lvl2pPr indent="-371475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2pPr>
            <a:lvl3pPr indent="-371475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3pPr>
            <a:lvl4pPr indent="-371475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4pPr>
            <a:lvl5pPr indent="-371475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5pPr>
            <a:lvl6pPr indent="-371475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6pPr>
            <a:lvl7pPr indent="-371475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7pPr>
            <a:lvl8pPr indent="-371475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8pPr>
            <a:lvl9pPr indent="-371475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9pPr>
          </a:lstStyle>
          <a:p/>
        </p:txBody>
      </p:sp>
      <p:sp>
        <p:nvSpPr>
          <p:cNvPr id="129" name="Google Shape;129;p5"/>
          <p:cNvSpPr txBox="1"/>
          <p:nvPr>
            <p:ph idx="2" type="body"/>
          </p:nvPr>
        </p:nvSpPr>
        <p:spPr>
          <a:xfrm>
            <a:off x="6172200" y="2249486"/>
            <a:ext cx="4875211" cy="35417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71475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1pPr>
            <a:lvl2pPr indent="-371475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2pPr>
            <a:lvl3pPr indent="-371475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3pPr>
            <a:lvl4pPr indent="-371475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4pPr>
            <a:lvl5pPr indent="-371475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5pPr>
            <a:lvl6pPr indent="-371475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6pPr>
            <a:lvl7pPr indent="-371475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7pPr>
            <a:lvl8pPr indent="-371475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8pPr>
            <a:lvl9pPr indent="-371475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9pPr>
          </a:lstStyle>
          <a:p/>
        </p:txBody>
      </p:sp>
      <p:sp>
        <p:nvSpPr>
          <p:cNvPr id="130" name="Google Shape;130;p5"/>
          <p:cNvSpPr txBox="1"/>
          <p:nvPr>
            <p:ph idx="10" type="dt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5"/>
          <p:cNvSpPr txBox="1"/>
          <p:nvPr>
            <p:ph idx="11" type="ftr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5"/>
          <p:cNvSpPr txBox="1"/>
          <p:nvPr>
            <p:ph idx="12" type="sldNum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6"/>
          <p:cNvSpPr txBox="1"/>
          <p:nvPr>
            <p:ph type="title"/>
          </p:nvPr>
        </p:nvSpPr>
        <p:spPr>
          <a:xfrm>
            <a:off x="1141411" y="619126"/>
            <a:ext cx="9906000" cy="14779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6"/>
          <p:cNvSpPr txBox="1"/>
          <p:nvPr>
            <p:ph idx="1" type="body"/>
          </p:nvPr>
        </p:nvSpPr>
        <p:spPr>
          <a:xfrm>
            <a:off x="1370019" y="2249486"/>
            <a:ext cx="4649783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0" sz="2400" cap="none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b="1" sz="20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None/>
              <a:defRPr b="1" sz="18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9pPr>
          </a:lstStyle>
          <a:p/>
        </p:txBody>
      </p:sp>
      <p:sp>
        <p:nvSpPr>
          <p:cNvPr id="136" name="Google Shape;136;p6"/>
          <p:cNvSpPr txBox="1"/>
          <p:nvPr>
            <p:ph idx="2" type="body"/>
          </p:nvPr>
        </p:nvSpPr>
        <p:spPr>
          <a:xfrm>
            <a:off x="1141410" y="3073397"/>
            <a:ext cx="4878391" cy="27178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71475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1pPr>
            <a:lvl2pPr indent="-371475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2pPr>
            <a:lvl3pPr indent="-371475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3pPr>
            <a:lvl4pPr indent="-371475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4pPr>
            <a:lvl5pPr indent="-371475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5pPr>
            <a:lvl6pPr indent="-371475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6pPr>
            <a:lvl7pPr indent="-371475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7pPr>
            <a:lvl8pPr indent="-371475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8pPr>
            <a:lvl9pPr indent="-371475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9pPr>
          </a:lstStyle>
          <a:p/>
        </p:txBody>
      </p:sp>
      <p:sp>
        <p:nvSpPr>
          <p:cNvPr id="137" name="Google Shape;137;p6"/>
          <p:cNvSpPr txBox="1"/>
          <p:nvPr>
            <p:ph idx="3" type="body"/>
          </p:nvPr>
        </p:nvSpPr>
        <p:spPr>
          <a:xfrm>
            <a:off x="6400808" y="2249485"/>
            <a:ext cx="4646602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0" sz="2400" cap="none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b="1" sz="20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None/>
              <a:defRPr b="1" sz="18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9pPr>
          </a:lstStyle>
          <a:p/>
        </p:txBody>
      </p:sp>
      <p:sp>
        <p:nvSpPr>
          <p:cNvPr id="138" name="Google Shape;138;p6"/>
          <p:cNvSpPr txBox="1"/>
          <p:nvPr>
            <p:ph idx="4" type="body"/>
          </p:nvPr>
        </p:nvSpPr>
        <p:spPr>
          <a:xfrm>
            <a:off x="6172200" y="3073397"/>
            <a:ext cx="4875210" cy="27178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71475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1pPr>
            <a:lvl2pPr indent="-371475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2pPr>
            <a:lvl3pPr indent="-371475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3pPr>
            <a:lvl4pPr indent="-371475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4pPr>
            <a:lvl5pPr indent="-371475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5pPr>
            <a:lvl6pPr indent="-371475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6pPr>
            <a:lvl7pPr indent="-371475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7pPr>
            <a:lvl8pPr indent="-371475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8pPr>
            <a:lvl9pPr indent="-371475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9pPr>
          </a:lstStyle>
          <a:p/>
        </p:txBody>
      </p:sp>
      <p:sp>
        <p:nvSpPr>
          <p:cNvPr id="139" name="Google Shape;139;p6"/>
          <p:cNvSpPr txBox="1"/>
          <p:nvPr>
            <p:ph idx="10" type="dt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6"/>
          <p:cNvSpPr txBox="1"/>
          <p:nvPr>
            <p:ph idx="11" type="ftr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6"/>
          <p:cNvSpPr txBox="1"/>
          <p:nvPr>
            <p:ph idx="12" type="sldNum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"/>
          <p:cNvSpPr txBox="1"/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4" name="Google Shape;144;p7"/>
          <p:cNvSpPr txBox="1"/>
          <p:nvPr>
            <p:ph idx="10" type="dt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7"/>
          <p:cNvSpPr txBox="1"/>
          <p:nvPr>
            <p:ph idx="11" type="ftr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7"/>
          <p:cNvSpPr txBox="1"/>
          <p:nvPr>
            <p:ph idx="12" type="sldNum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"/>
          <p:cNvSpPr txBox="1"/>
          <p:nvPr>
            <p:ph idx="10" type="dt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8"/>
          <p:cNvSpPr txBox="1"/>
          <p:nvPr>
            <p:ph idx="11" type="ftr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0" name="Google Shape;150;p8"/>
          <p:cNvSpPr txBox="1"/>
          <p:nvPr>
            <p:ph idx="12" type="sldNum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9"/>
          <p:cNvSpPr txBox="1"/>
          <p:nvPr>
            <p:ph type="title"/>
          </p:nvPr>
        </p:nvSpPr>
        <p:spPr>
          <a:xfrm>
            <a:off x="1146705" y="609601"/>
            <a:ext cx="3856037" cy="16398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Twentieth Centur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9"/>
          <p:cNvSpPr txBox="1"/>
          <p:nvPr>
            <p:ph idx="1" type="body"/>
          </p:nvPr>
        </p:nvSpPr>
        <p:spPr>
          <a:xfrm>
            <a:off x="5156200" y="592666"/>
            <a:ext cx="5891209" cy="51985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71475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1pPr>
            <a:lvl2pPr indent="-371475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2pPr>
            <a:lvl3pPr indent="-371475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3pPr>
            <a:lvl4pPr indent="-371475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4pPr>
            <a:lvl5pPr indent="-371475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5pPr>
            <a:lvl6pPr indent="-371475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6pPr>
            <a:lvl7pPr indent="-371475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7pPr>
            <a:lvl8pPr indent="-371475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8pPr>
            <a:lvl9pPr indent="-371475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9pPr>
          </a:lstStyle>
          <a:p/>
        </p:txBody>
      </p:sp>
      <p:sp>
        <p:nvSpPr>
          <p:cNvPr id="154" name="Google Shape;154;p9"/>
          <p:cNvSpPr txBox="1"/>
          <p:nvPr>
            <p:ph idx="2" type="body"/>
          </p:nvPr>
        </p:nvSpPr>
        <p:spPr>
          <a:xfrm>
            <a:off x="1146705" y="2249486"/>
            <a:ext cx="3856037" cy="35417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16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50"/>
              <a:buNone/>
              <a:defRPr sz="14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2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9pPr>
          </a:lstStyle>
          <a:p/>
        </p:txBody>
      </p:sp>
      <p:sp>
        <p:nvSpPr>
          <p:cNvPr id="155" name="Google Shape;155;p9"/>
          <p:cNvSpPr txBox="1"/>
          <p:nvPr>
            <p:ph idx="10" type="dt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9"/>
          <p:cNvSpPr txBox="1"/>
          <p:nvPr>
            <p:ph idx="11" type="ftr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7" name="Google Shape;157;p9"/>
          <p:cNvSpPr txBox="1"/>
          <p:nvPr>
            <p:ph idx="12" type="sldNum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0"/>
          <p:cNvSpPr txBox="1"/>
          <p:nvPr>
            <p:ph type="title"/>
          </p:nvPr>
        </p:nvSpPr>
        <p:spPr>
          <a:xfrm>
            <a:off x="1141413" y="609600"/>
            <a:ext cx="5934508" cy="163988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Twentieth Centur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10"/>
          <p:cNvSpPr/>
          <p:nvPr>
            <p:ph idx="2" type="pic"/>
          </p:nvPr>
        </p:nvSpPr>
        <p:spPr>
          <a:xfrm>
            <a:off x="7380721" y="609601"/>
            <a:ext cx="3666690" cy="5181599"/>
          </a:xfrm>
          <a:prstGeom prst="round2DiagRect">
            <a:avLst>
              <a:gd fmla="val 5608" name="adj1"/>
              <a:gd fmla="val 0" name="adj2"/>
            </a:avLst>
          </a:prstGeom>
          <a:noFill/>
          <a:ln cap="sq" cmpd="sng" w="19050">
            <a:solidFill>
              <a:srgbClr val="B3FFFF">
                <a:alpha val="60000"/>
              </a:srgbClr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88900" rotWithShape="0" algn="t" dir="5400000" dist="38100">
              <a:srgbClr val="000000">
                <a:alpha val="40000"/>
              </a:srgbClr>
            </a:outerShdw>
          </a:effectLst>
        </p:spPr>
      </p:sp>
      <p:sp>
        <p:nvSpPr>
          <p:cNvPr id="161" name="Google Shape;161;p10"/>
          <p:cNvSpPr txBox="1"/>
          <p:nvPr>
            <p:ph idx="1" type="body"/>
          </p:nvPr>
        </p:nvSpPr>
        <p:spPr>
          <a:xfrm>
            <a:off x="1141410" y="2249486"/>
            <a:ext cx="5934511" cy="35417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16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50"/>
              <a:buNone/>
              <a:defRPr sz="14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2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9pPr>
          </a:lstStyle>
          <a:p/>
        </p:txBody>
      </p:sp>
      <p:sp>
        <p:nvSpPr>
          <p:cNvPr id="162" name="Google Shape;162;p10"/>
          <p:cNvSpPr txBox="1"/>
          <p:nvPr>
            <p:ph idx="10" type="dt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10"/>
          <p:cNvSpPr txBox="1"/>
          <p:nvPr>
            <p:ph idx="11" type="ftr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" name="Google Shape;164;p10"/>
          <p:cNvSpPr txBox="1"/>
          <p:nvPr>
            <p:ph idx="12" type="sldNum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panorámica con descripción">
  <p:cSld name="Imagen panorámica con descripción"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1"/>
          <p:cNvSpPr txBox="1"/>
          <p:nvPr>
            <p:ph type="title"/>
          </p:nvPr>
        </p:nvSpPr>
        <p:spPr>
          <a:xfrm>
            <a:off x="1141410" y="4304664"/>
            <a:ext cx="9912355" cy="81935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Twentieth Centur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7" name="Google Shape;167;p11"/>
          <p:cNvSpPr/>
          <p:nvPr>
            <p:ph idx="2" type="pic"/>
          </p:nvPr>
        </p:nvSpPr>
        <p:spPr>
          <a:xfrm>
            <a:off x="1141411" y="606426"/>
            <a:ext cx="9912354" cy="3299778"/>
          </a:xfrm>
          <a:prstGeom prst="round2DiagRect">
            <a:avLst>
              <a:gd fmla="val 4860" name="adj1"/>
              <a:gd fmla="val 0" name="adj2"/>
            </a:avLst>
          </a:prstGeom>
          <a:noFill/>
          <a:ln cap="sq" cmpd="sng" w="19050">
            <a:solidFill>
              <a:srgbClr val="B3FFFF">
                <a:alpha val="60000"/>
              </a:srgbClr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88900" rotWithShape="0" algn="t" dir="5400000" dist="38100">
              <a:srgbClr val="000000">
                <a:alpha val="40000"/>
              </a:srgbClr>
            </a:outerShdw>
          </a:effectLst>
        </p:spPr>
      </p:sp>
      <p:sp>
        <p:nvSpPr>
          <p:cNvPr id="168" name="Google Shape;168;p11"/>
          <p:cNvSpPr txBox="1"/>
          <p:nvPr>
            <p:ph idx="1" type="body"/>
          </p:nvPr>
        </p:nvSpPr>
        <p:spPr>
          <a:xfrm>
            <a:off x="1141364" y="5124020"/>
            <a:ext cx="9910859" cy="682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16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50"/>
              <a:buNone/>
              <a:defRPr sz="14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2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9pPr>
          </a:lstStyle>
          <a:p/>
        </p:txBody>
      </p:sp>
      <p:sp>
        <p:nvSpPr>
          <p:cNvPr id="169" name="Google Shape;169;p11"/>
          <p:cNvSpPr txBox="1"/>
          <p:nvPr>
            <p:ph idx="10" type="dt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11"/>
          <p:cNvSpPr txBox="1"/>
          <p:nvPr>
            <p:ph idx="11" type="ftr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1" name="Google Shape;171;p11"/>
          <p:cNvSpPr txBox="1"/>
          <p:nvPr>
            <p:ph idx="12" type="sldNum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descripción">
  <p:cSld name="Título y descripción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"/>
          <p:cNvSpPr txBox="1"/>
          <p:nvPr>
            <p:ph type="title"/>
          </p:nvPr>
        </p:nvSpPr>
        <p:spPr>
          <a:xfrm>
            <a:off x="1141456" y="609600"/>
            <a:ext cx="9905955" cy="342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Twentieth Century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4" name="Google Shape;174;p12"/>
          <p:cNvSpPr txBox="1"/>
          <p:nvPr>
            <p:ph idx="1" type="body"/>
          </p:nvPr>
        </p:nvSpPr>
        <p:spPr>
          <a:xfrm>
            <a:off x="1141410" y="4419599"/>
            <a:ext cx="9904459" cy="13715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50"/>
              <a:buNone/>
              <a:defRPr sz="18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50"/>
              <a:buNone/>
              <a:defRPr sz="14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2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9pPr>
          </a:lstStyle>
          <a:p/>
        </p:txBody>
      </p:sp>
      <p:sp>
        <p:nvSpPr>
          <p:cNvPr id="175" name="Google Shape;175;p12"/>
          <p:cNvSpPr txBox="1"/>
          <p:nvPr>
            <p:ph idx="10" type="dt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12"/>
          <p:cNvSpPr txBox="1"/>
          <p:nvPr>
            <p:ph idx="11" type="ftr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7" name="Google Shape;177;p12"/>
          <p:cNvSpPr txBox="1"/>
          <p:nvPr>
            <p:ph idx="12" type="sldNum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ita con descripción">
  <p:cSld name="Cita con descripción"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3"/>
          <p:cNvSpPr txBox="1"/>
          <p:nvPr>
            <p:ph type="title"/>
          </p:nvPr>
        </p:nvSpPr>
        <p:spPr>
          <a:xfrm>
            <a:off x="1446212" y="609599"/>
            <a:ext cx="9302752" cy="274842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Twentieth Century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0" name="Google Shape;180;p13"/>
          <p:cNvSpPr txBox="1"/>
          <p:nvPr>
            <p:ph idx="1" type="body"/>
          </p:nvPr>
        </p:nvSpPr>
        <p:spPr>
          <a:xfrm>
            <a:off x="1720644" y="3365557"/>
            <a:ext cx="8752299" cy="5489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750"/>
              <a:buNone/>
              <a:defRPr sz="14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50"/>
              <a:buNone/>
              <a:defRPr sz="14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2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9pPr>
          </a:lstStyle>
          <a:p/>
        </p:txBody>
      </p:sp>
      <p:sp>
        <p:nvSpPr>
          <p:cNvPr id="181" name="Google Shape;181;p13"/>
          <p:cNvSpPr txBox="1"/>
          <p:nvPr>
            <p:ph idx="2" type="body"/>
          </p:nvPr>
        </p:nvSpPr>
        <p:spPr>
          <a:xfrm>
            <a:off x="1141411" y="4309919"/>
            <a:ext cx="9906002" cy="14894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50"/>
              <a:buNone/>
              <a:defRPr sz="18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50"/>
              <a:buNone/>
              <a:defRPr sz="14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2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9pPr>
          </a:lstStyle>
          <a:p/>
        </p:txBody>
      </p:sp>
      <p:sp>
        <p:nvSpPr>
          <p:cNvPr id="182" name="Google Shape;182;p13"/>
          <p:cNvSpPr txBox="1"/>
          <p:nvPr>
            <p:ph idx="10" type="dt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3" name="Google Shape;183;p13"/>
          <p:cNvSpPr txBox="1"/>
          <p:nvPr>
            <p:ph idx="11" type="ftr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4" name="Google Shape;184;p13"/>
          <p:cNvSpPr txBox="1"/>
          <p:nvPr>
            <p:ph idx="12" type="sldNum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185" name="Google Shape;185;p13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Twentieth Century"/>
              <a:buNone/>
            </a:pPr>
            <a:r>
              <a:rPr b="0" lang="es-ES" sz="8000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“</a:t>
            </a:r>
            <a:endParaRPr/>
          </a:p>
        </p:txBody>
      </p:sp>
      <p:sp>
        <p:nvSpPr>
          <p:cNvPr id="186" name="Google Shape;186;p13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Twentieth Century"/>
              <a:buNone/>
            </a:pPr>
            <a:r>
              <a:rPr b="0" lang="es-ES" sz="8000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rjeta de nombre">
  <p:cSld name="Tarjeta de nombre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4"/>
          <p:cNvSpPr txBox="1"/>
          <p:nvPr>
            <p:ph type="title"/>
          </p:nvPr>
        </p:nvSpPr>
        <p:spPr>
          <a:xfrm>
            <a:off x="1141410" y="2134041"/>
            <a:ext cx="9906001" cy="251183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Twentieth Century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14"/>
          <p:cNvSpPr txBox="1"/>
          <p:nvPr>
            <p:ph idx="1" type="body"/>
          </p:nvPr>
        </p:nvSpPr>
        <p:spPr>
          <a:xfrm>
            <a:off x="1141364" y="4657655"/>
            <a:ext cx="9904505" cy="11406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50"/>
              <a:buNone/>
              <a:defRPr sz="18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50"/>
              <a:buNone/>
              <a:defRPr sz="14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2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9pPr>
          </a:lstStyle>
          <a:p/>
        </p:txBody>
      </p:sp>
      <p:sp>
        <p:nvSpPr>
          <p:cNvPr id="190" name="Google Shape;190;p14"/>
          <p:cNvSpPr txBox="1"/>
          <p:nvPr>
            <p:ph idx="10" type="dt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p14"/>
          <p:cNvSpPr txBox="1"/>
          <p:nvPr>
            <p:ph idx="11" type="ftr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2" name="Google Shape;192;p14"/>
          <p:cNvSpPr txBox="1"/>
          <p:nvPr>
            <p:ph idx="12" type="sldNum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lumna 3">
  <p:cSld name="Columna 3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5"/>
          <p:cNvSpPr txBox="1"/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5" name="Google Shape;195;p15"/>
          <p:cNvSpPr txBox="1"/>
          <p:nvPr>
            <p:ph idx="1" type="body"/>
          </p:nvPr>
        </p:nvSpPr>
        <p:spPr>
          <a:xfrm>
            <a:off x="1141410" y="2674463"/>
            <a:ext cx="3196899" cy="685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0" sz="2400" cap="none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b="1" sz="20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None/>
              <a:defRPr b="1" sz="18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9pPr>
          </a:lstStyle>
          <a:p/>
        </p:txBody>
      </p:sp>
      <p:sp>
        <p:nvSpPr>
          <p:cNvPr id="196" name="Google Shape;196;p15"/>
          <p:cNvSpPr txBox="1"/>
          <p:nvPr>
            <p:ph idx="2" type="body"/>
          </p:nvPr>
        </p:nvSpPr>
        <p:spPr>
          <a:xfrm>
            <a:off x="1127918" y="3360263"/>
            <a:ext cx="3208735" cy="24309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750"/>
              <a:buNone/>
              <a:defRPr sz="14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2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9pPr>
          </a:lstStyle>
          <a:p/>
        </p:txBody>
      </p:sp>
      <p:sp>
        <p:nvSpPr>
          <p:cNvPr id="197" name="Google Shape;197;p15"/>
          <p:cNvSpPr txBox="1"/>
          <p:nvPr>
            <p:ph idx="3" type="body"/>
          </p:nvPr>
        </p:nvSpPr>
        <p:spPr>
          <a:xfrm>
            <a:off x="4514766" y="2677635"/>
            <a:ext cx="3184385" cy="685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0" sz="2400" cap="none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b="1" sz="20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None/>
              <a:defRPr b="1" sz="18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9pPr>
          </a:lstStyle>
          <a:p/>
        </p:txBody>
      </p:sp>
      <p:sp>
        <p:nvSpPr>
          <p:cNvPr id="198" name="Google Shape;198;p15"/>
          <p:cNvSpPr txBox="1"/>
          <p:nvPr>
            <p:ph idx="4" type="body"/>
          </p:nvPr>
        </p:nvSpPr>
        <p:spPr>
          <a:xfrm>
            <a:off x="4504213" y="3363435"/>
            <a:ext cx="3195830" cy="24309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750"/>
              <a:buNone/>
              <a:defRPr sz="14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2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9pPr>
          </a:lstStyle>
          <a:p/>
        </p:txBody>
      </p:sp>
      <p:sp>
        <p:nvSpPr>
          <p:cNvPr id="199" name="Google Shape;199;p15"/>
          <p:cNvSpPr txBox="1"/>
          <p:nvPr>
            <p:ph idx="5" type="body"/>
          </p:nvPr>
        </p:nvSpPr>
        <p:spPr>
          <a:xfrm>
            <a:off x="7852442" y="2674463"/>
            <a:ext cx="3194968" cy="685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0" sz="2400" cap="none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b="1" sz="20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None/>
              <a:defRPr b="1" sz="18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9pPr>
          </a:lstStyle>
          <a:p/>
        </p:txBody>
      </p:sp>
      <p:sp>
        <p:nvSpPr>
          <p:cNvPr id="200" name="Google Shape;200;p15"/>
          <p:cNvSpPr txBox="1"/>
          <p:nvPr>
            <p:ph idx="6" type="body"/>
          </p:nvPr>
        </p:nvSpPr>
        <p:spPr>
          <a:xfrm>
            <a:off x="7852442" y="3360263"/>
            <a:ext cx="3194968" cy="24309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750"/>
              <a:buNone/>
              <a:defRPr sz="14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2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9pPr>
          </a:lstStyle>
          <a:p/>
        </p:txBody>
      </p:sp>
      <p:sp>
        <p:nvSpPr>
          <p:cNvPr id="201" name="Google Shape;201;p15"/>
          <p:cNvSpPr txBox="1"/>
          <p:nvPr>
            <p:ph idx="10" type="dt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2" name="Google Shape;202;p15"/>
          <p:cNvSpPr txBox="1"/>
          <p:nvPr>
            <p:ph idx="11" type="ftr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3" name="Google Shape;203;p15"/>
          <p:cNvSpPr txBox="1"/>
          <p:nvPr>
            <p:ph idx="12" type="sldNum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lumna de imagen 3">
  <p:cSld name="Columna de imagen 3"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"/>
          <p:cNvSpPr txBox="1"/>
          <p:nvPr>
            <p:ph type="title"/>
          </p:nvPr>
        </p:nvSpPr>
        <p:spPr>
          <a:xfrm>
            <a:off x="1141411" y="609600"/>
            <a:ext cx="9905999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6" name="Google Shape;206;p16"/>
          <p:cNvSpPr txBox="1"/>
          <p:nvPr>
            <p:ph idx="1" type="body"/>
          </p:nvPr>
        </p:nvSpPr>
        <p:spPr>
          <a:xfrm>
            <a:off x="1141413" y="4404596"/>
            <a:ext cx="3195240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b="0" sz="2000" cap="none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b="1" sz="20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None/>
              <a:defRPr b="1" sz="18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9pPr>
          </a:lstStyle>
          <a:p/>
        </p:txBody>
      </p:sp>
      <p:sp>
        <p:nvSpPr>
          <p:cNvPr id="207" name="Google Shape;207;p16"/>
          <p:cNvSpPr/>
          <p:nvPr>
            <p:ph idx="2" type="pic"/>
          </p:nvPr>
        </p:nvSpPr>
        <p:spPr>
          <a:xfrm>
            <a:off x="1141413" y="2666998"/>
            <a:ext cx="3195240" cy="1524000"/>
          </a:xfrm>
          <a:prstGeom prst="round2DiagRect">
            <a:avLst>
              <a:gd fmla="val 16667" name="adj1"/>
              <a:gd fmla="val 0" name="adj2"/>
            </a:avLst>
          </a:prstGeom>
          <a:noFill/>
          <a:ln cap="sq" cmpd="sng" w="19050">
            <a:solidFill>
              <a:srgbClr val="B3FFFF">
                <a:alpha val="60000"/>
              </a:srgbClr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88900" rotWithShape="0" algn="t" dir="5400000" dist="38100">
              <a:srgbClr val="000000">
                <a:alpha val="40000"/>
              </a:srgbClr>
            </a:outerShdw>
          </a:effectLst>
        </p:spPr>
      </p:sp>
      <p:sp>
        <p:nvSpPr>
          <p:cNvPr id="208" name="Google Shape;208;p16"/>
          <p:cNvSpPr txBox="1"/>
          <p:nvPr>
            <p:ph idx="3" type="body"/>
          </p:nvPr>
        </p:nvSpPr>
        <p:spPr>
          <a:xfrm>
            <a:off x="1141413" y="4980858"/>
            <a:ext cx="3195240" cy="8178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750"/>
              <a:buNone/>
              <a:defRPr sz="14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2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9pPr>
          </a:lstStyle>
          <a:p/>
        </p:txBody>
      </p:sp>
      <p:sp>
        <p:nvSpPr>
          <p:cNvPr id="209" name="Google Shape;209;p16"/>
          <p:cNvSpPr txBox="1"/>
          <p:nvPr>
            <p:ph idx="4" type="body"/>
          </p:nvPr>
        </p:nvSpPr>
        <p:spPr>
          <a:xfrm>
            <a:off x="4489053" y="4404596"/>
            <a:ext cx="3200400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b="0" sz="2000" cap="none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b="1" sz="20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None/>
              <a:defRPr b="1" sz="18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9pPr>
          </a:lstStyle>
          <a:p/>
        </p:txBody>
      </p:sp>
      <p:sp>
        <p:nvSpPr>
          <p:cNvPr id="210" name="Google Shape;210;p16"/>
          <p:cNvSpPr/>
          <p:nvPr>
            <p:ph idx="5" type="pic"/>
          </p:nvPr>
        </p:nvSpPr>
        <p:spPr>
          <a:xfrm>
            <a:off x="4489053" y="2666998"/>
            <a:ext cx="3198940" cy="1524000"/>
          </a:xfrm>
          <a:prstGeom prst="round2DiagRect">
            <a:avLst>
              <a:gd fmla="val 16667" name="adj1"/>
              <a:gd fmla="val 0" name="adj2"/>
            </a:avLst>
          </a:prstGeom>
          <a:noFill/>
          <a:ln cap="sq" cmpd="sng" w="19050">
            <a:solidFill>
              <a:srgbClr val="B3FFFF">
                <a:alpha val="60000"/>
              </a:srgbClr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88900" rotWithShape="0" algn="t" dir="5400000" dist="38100">
              <a:srgbClr val="000000">
                <a:alpha val="40000"/>
              </a:srgbClr>
            </a:outerShdw>
          </a:effectLst>
        </p:spPr>
      </p:sp>
      <p:sp>
        <p:nvSpPr>
          <p:cNvPr id="211" name="Google Shape;211;p16"/>
          <p:cNvSpPr txBox="1"/>
          <p:nvPr>
            <p:ph idx="6" type="body"/>
          </p:nvPr>
        </p:nvSpPr>
        <p:spPr>
          <a:xfrm>
            <a:off x="4487593" y="4980857"/>
            <a:ext cx="3200400" cy="8103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750"/>
              <a:buNone/>
              <a:defRPr sz="14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2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9pPr>
          </a:lstStyle>
          <a:p/>
        </p:txBody>
      </p:sp>
      <p:sp>
        <p:nvSpPr>
          <p:cNvPr id="212" name="Google Shape;212;p16"/>
          <p:cNvSpPr txBox="1"/>
          <p:nvPr>
            <p:ph idx="7" type="body"/>
          </p:nvPr>
        </p:nvSpPr>
        <p:spPr>
          <a:xfrm>
            <a:off x="7852567" y="4404595"/>
            <a:ext cx="3190741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b="0" sz="2000" cap="none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b="1" sz="20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None/>
              <a:defRPr b="1" sz="18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1600"/>
            </a:lvl9pPr>
          </a:lstStyle>
          <a:p/>
        </p:txBody>
      </p:sp>
      <p:sp>
        <p:nvSpPr>
          <p:cNvPr id="213" name="Google Shape;213;p16"/>
          <p:cNvSpPr/>
          <p:nvPr>
            <p:ph idx="8" type="pic"/>
          </p:nvPr>
        </p:nvSpPr>
        <p:spPr>
          <a:xfrm>
            <a:off x="7852442" y="2666998"/>
            <a:ext cx="3194969" cy="1524000"/>
          </a:xfrm>
          <a:prstGeom prst="round2DiagRect">
            <a:avLst>
              <a:gd fmla="val 16667" name="adj1"/>
              <a:gd fmla="val 0" name="adj2"/>
            </a:avLst>
          </a:prstGeom>
          <a:noFill/>
          <a:ln cap="sq" cmpd="sng" w="19050">
            <a:solidFill>
              <a:srgbClr val="B3FFFF">
                <a:alpha val="60000"/>
              </a:srgbClr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88900" rotWithShape="0" algn="t" dir="5400000" dist="38100">
              <a:srgbClr val="000000">
                <a:alpha val="40000"/>
              </a:srgbClr>
            </a:outerShdw>
          </a:effectLst>
        </p:spPr>
      </p:sp>
      <p:sp>
        <p:nvSpPr>
          <p:cNvPr id="214" name="Google Shape;214;p16"/>
          <p:cNvSpPr txBox="1"/>
          <p:nvPr>
            <p:ph idx="9" type="body"/>
          </p:nvPr>
        </p:nvSpPr>
        <p:spPr>
          <a:xfrm>
            <a:off x="7852442" y="4980854"/>
            <a:ext cx="3194968" cy="8103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750"/>
              <a:buNone/>
              <a:defRPr sz="14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2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50"/>
              <a:buNone/>
              <a:defRPr sz="10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25"/>
              <a:buNone/>
              <a:defRPr sz="900"/>
            </a:lvl9pPr>
          </a:lstStyle>
          <a:p/>
        </p:txBody>
      </p:sp>
      <p:sp>
        <p:nvSpPr>
          <p:cNvPr id="215" name="Google Shape;215;p16"/>
          <p:cNvSpPr txBox="1"/>
          <p:nvPr>
            <p:ph idx="10" type="dt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6" name="Google Shape;216;p16"/>
          <p:cNvSpPr txBox="1"/>
          <p:nvPr>
            <p:ph idx="11" type="ftr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p16"/>
          <p:cNvSpPr txBox="1"/>
          <p:nvPr>
            <p:ph idx="12" type="sldNum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7"/>
          <p:cNvSpPr txBox="1"/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0" name="Google Shape;220;p17"/>
          <p:cNvSpPr txBox="1"/>
          <p:nvPr>
            <p:ph idx="1" type="body"/>
          </p:nvPr>
        </p:nvSpPr>
        <p:spPr>
          <a:xfrm rot="5400000">
            <a:off x="4323555" y="-932655"/>
            <a:ext cx="3541714" cy="9905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71475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1pPr>
            <a:lvl2pPr indent="-371475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2pPr>
            <a:lvl3pPr indent="-371475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3pPr>
            <a:lvl4pPr indent="-371475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4pPr>
            <a:lvl5pPr indent="-371475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5pPr>
            <a:lvl6pPr indent="-371475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6pPr>
            <a:lvl7pPr indent="-371475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7pPr>
            <a:lvl8pPr indent="-371475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8pPr>
            <a:lvl9pPr indent="-371475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9pPr>
          </a:lstStyle>
          <a:p/>
        </p:txBody>
      </p:sp>
      <p:sp>
        <p:nvSpPr>
          <p:cNvPr id="221" name="Google Shape;221;p17"/>
          <p:cNvSpPr txBox="1"/>
          <p:nvPr>
            <p:ph idx="10" type="dt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2" name="Google Shape;222;p17"/>
          <p:cNvSpPr txBox="1"/>
          <p:nvPr>
            <p:ph idx="11" type="ftr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17"/>
          <p:cNvSpPr txBox="1"/>
          <p:nvPr>
            <p:ph idx="12" type="sldNum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8"/>
          <p:cNvSpPr txBox="1"/>
          <p:nvPr>
            <p:ph type="title"/>
          </p:nvPr>
        </p:nvSpPr>
        <p:spPr>
          <a:xfrm rot="5400000">
            <a:off x="7454105" y="2197894"/>
            <a:ext cx="5181601" cy="200501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18"/>
          <p:cNvSpPr txBox="1"/>
          <p:nvPr>
            <p:ph idx="1" type="body"/>
          </p:nvPr>
        </p:nvSpPr>
        <p:spPr>
          <a:xfrm rot="5400000">
            <a:off x="2424905" y="-673895"/>
            <a:ext cx="5181601" cy="77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71475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1pPr>
            <a:lvl2pPr indent="-371475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2pPr>
            <a:lvl3pPr indent="-371475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3pPr>
            <a:lvl4pPr indent="-371475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4pPr>
            <a:lvl5pPr indent="-371475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5pPr>
            <a:lvl6pPr indent="-371475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6pPr>
            <a:lvl7pPr indent="-371475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7pPr>
            <a:lvl8pPr indent="-371475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8pPr>
            <a:lvl9pPr indent="-371475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Char char="•"/>
              <a:defRPr/>
            </a:lvl9pPr>
          </a:lstStyle>
          <a:p/>
        </p:txBody>
      </p:sp>
      <p:sp>
        <p:nvSpPr>
          <p:cNvPr id="227" name="Google Shape;227;p18"/>
          <p:cNvSpPr txBox="1"/>
          <p:nvPr>
            <p:ph idx="10" type="dt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8" name="Google Shape;228;p18"/>
          <p:cNvSpPr txBox="1"/>
          <p:nvPr>
            <p:ph idx="11" type="ftr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9" name="Google Shape;229;p18"/>
          <p:cNvSpPr txBox="1"/>
          <p:nvPr>
            <p:ph idx="12" type="sldNum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9.xml"/><Relationship Id="rId10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0.xml"/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9" Type="http://schemas.openxmlformats.org/officeDocument/2006/relationships/slideLayout" Target="../slideLayouts/slideLayout7.xml"/><Relationship Id="rId15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3.xml"/><Relationship Id="rId19" Type="http://schemas.openxmlformats.org/officeDocument/2006/relationships/slideLayout" Target="../slideLayouts/slideLayout17.xml"/><Relationship Id="rId6" Type="http://schemas.openxmlformats.org/officeDocument/2006/relationships/slideLayout" Target="../slideLayouts/slideLayout4.xml"/><Relationship Id="rId1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\\DROBO-FS\QuickDrops\JB\PPTX NG\Droplets\LightingOverlay.png" id="6" name="Google Shape;6;p1"/>
          <p:cNvPicPr preferRelativeResize="0"/>
          <p:nvPr/>
        </p:nvPicPr>
        <p:blipFill rotWithShape="1">
          <a:blip r:embed="rId2">
            <a:alphaModFix amt="30000"/>
          </a:blip>
          <a:srcRect b="0" l="0" r="0" t="0"/>
          <a:stretch/>
        </p:blipFill>
        <p:spPr>
          <a:xfrm>
            <a:off x="0" y="-1"/>
            <a:ext cx="12192003" cy="68580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Google Shape;7;p1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8" name="Google Shape;8;p1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</p:grpSpPr>
          <p:sp>
            <p:nvSpPr>
              <p:cNvPr id="9" name="Google Shape;9;p1"/>
              <p:cNvSpPr/>
              <p:nvPr/>
            </p:nvSpPr>
            <p:spPr>
              <a:xfrm>
                <a:off x="114300" y="4763"/>
                <a:ext cx="23813" cy="2181225"/>
              </a:xfrm>
              <a:prstGeom prst="rect">
                <a:avLst/>
              </a:pr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10" name="Google Shape;10;p1"/>
              <p:cNvSpPr/>
              <p:nvPr/>
            </p:nvSpPr>
            <p:spPr>
              <a:xfrm>
                <a:off x="33337" y="2176463"/>
                <a:ext cx="190500" cy="190500"/>
              </a:xfrm>
              <a:custGeom>
                <a:rect b="b" l="l" r="r" t="t"/>
                <a:pathLst>
                  <a:path extrusionOk="0" h="40" w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11" name="Google Shape;11;p1"/>
              <p:cNvSpPr/>
              <p:nvPr/>
            </p:nvSpPr>
            <p:spPr>
              <a:xfrm>
                <a:off x="28575" y="4021138"/>
                <a:ext cx="190500" cy="188913"/>
              </a:xfrm>
              <a:custGeom>
                <a:rect b="b" l="l" r="r" t="t"/>
                <a:pathLst>
                  <a:path extrusionOk="0" h="40" w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12" name="Google Shape;12;p1"/>
              <p:cNvSpPr/>
              <p:nvPr/>
            </p:nvSpPr>
            <p:spPr>
              <a:xfrm>
                <a:off x="200025" y="4763"/>
                <a:ext cx="369888" cy="1811338"/>
              </a:xfrm>
              <a:custGeom>
                <a:rect b="b" l="l" r="r" t="t"/>
                <a:pathLst>
                  <a:path extrusionOk="0" h="1141" w="233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13" name="Google Shape;13;p1"/>
              <p:cNvSpPr/>
              <p:nvPr/>
            </p:nvSpPr>
            <p:spPr>
              <a:xfrm>
                <a:off x="503237" y="1801813"/>
                <a:ext cx="190500" cy="188913"/>
              </a:xfrm>
              <a:custGeom>
                <a:rect b="b" l="l" r="r" t="t"/>
                <a:pathLst>
                  <a:path extrusionOk="0" h="40" w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14" name="Google Shape;14;p1"/>
              <p:cNvSpPr/>
              <p:nvPr/>
            </p:nvSpPr>
            <p:spPr>
              <a:xfrm>
                <a:off x="285750" y="4763"/>
                <a:ext cx="369888" cy="1430338"/>
              </a:xfrm>
              <a:custGeom>
                <a:rect b="b" l="l" r="r" t="t"/>
                <a:pathLst>
                  <a:path extrusionOk="0" h="901" w="233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15" name="Google Shape;15;p1"/>
              <p:cNvSpPr/>
              <p:nvPr/>
            </p:nvSpPr>
            <p:spPr>
              <a:xfrm>
                <a:off x="546100" y="0"/>
                <a:ext cx="152400" cy="912813"/>
              </a:xfrm>
              <a:custGeom>
                <a:rect b="b" l="l" r="r" t="t"/>
                <a:pathLst>
                  <a:path extrusionOk="0" h="575" w="96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16" name="Google Shape;16;p1"/>
              <p:cNvSpPr/>
              <p:nvPr/>
            </p:nvSpPr>
            <p:spPr>
              <a:xfrm>
                <a:off x="588962" y="1420813"/>
                <a:ext cx="190500" cy="190500"/>
              </a:xfrm>
              <a:custGeom>
                <a:rect b="b" l="l" r="r" t="t"/>
                <a:pathLst>
                  <a:path extrusionOk="0" h="40" w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17" name="Google Shape;17;p1"/>
              <p:cNvSpPr/>
              <p:nvPr/>
            </p:nvSpPr>
            <p:spPr>
              <a:xfrm>
                <a:off x="588962" y="903288"/>
                <a:ext cx="190500" cy="190500"/>
              </a:xfrm>
              <a:custGeom>
                <a:rect b="b" l="l" r="r" t="t"/>
                <a:pathLst>
                  <a:path extrusionOk="0" h="40" w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18" name="Google Shape;18;p1"/>
              <p:cNvSpPr/>
              <p:nvPr/>
            </p:nvSpPr>
            <p:spPr>
              <a:xfrm>
                <a:off x="641350" y="0"/>
                <a:ext cx="422275" cy="527050"/>
              </a:xfrm>
              <a:custGeom>
                <a:rect b="b" l="l" r="r" t="t"/>
                <a:pathLst>
                  <a:path extrusionOk="0" h="332" w="266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19" name="Google Shape;19;p1"/>
              <p:cNvSpPr/>
              <p:nvPr/>
            </p:nvSpPr>
            <p:spPr>
              <a:xfrm>
                <a:off x="1020762" y="488950"/>
                <a:ext cx="161925" cy="147638"/>
              </a:xfrm>
              <a:custGeom>
                <a:rect b="b" l="l" r="r" t="t"/>
                <a:pathLst>
                  <a:path extrusionOk="0" h="31" w="34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cxnSp>
            <p:nvCxnSpPr>
              <p:cNvPr id="20" name="Google Shape;20;p1"/>
              <p:cNvCxnSpPr/>
              <p:nvPr/>
            </p:nvCxnSpPr>
            <p:spPr>
              <a:xfrm>
                <a:off x="-4763" y="9525"/>
                <a:ext cx="0" cy="0"/>
              </a:xfrm>
              <a:prstGeom prst="straightConnector1">
                <a:avLst/>
              </a:pr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 cap="flat" cmpd="sng" w="9525">
                <a:solidFill>
                  <a:srgbClr val="FFFFFF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sp>
            <p:nvSpPr>
              <p:cNvPr id="21" name="Google Shape;21;p1"/>
              <p:cNvSpPr/>
              <p:nvPr/>
            </p:nvSpPr>
            <p:spPr>
              <a:xfrm>
                <a:off x="9525" y="1801813"/>
                <a:ext cx="123825" cy="127000"/>
              </a:xfrm>
              <a:custGeom>
                <a:rect b="b" l="l" r="r" t="t"/>
                <a:pathLst>
                  <a:path extrusionOk="0" h="80" w="78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22" name="Google Shape;22;p1"/>
              <p:cNvSpPr/>
              <p:nvPr/>
            </p:nvSpPr>
            <p:spPr>
              <a:xfrm>
                <a:off x="-9525" y="3549650"/>
                <a:ext cx="147638" cy="481013"/>
              </a:xfrm>
              <a:custGeom>
                <a:rect b="b" l="l" r="r" t="t"/>
                <a:pathLst>
                  <a:path extrusionOk="0" h="303" w="9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23" name="Google Shape;23;p1"/>
              <p:cNvSpPr/>
              <p:nvPr/>
            </p:nvSpPr>
            <p:spPr>
              <a:xfrm>
                <a:off x="128587" y="1382713"/>
                <a:ext cx="142875" cy="476250"/>
              </a:xfrm>
              <a:custGeom>
                <a:rect b="b" l="l" r="r" t="t"/>
                <a:pathLst>
                  <a:path extrusionOk="0" h="300" w="9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24" name="Google Shape;24;p1"/>
              <p:cNvSpPr/>
              <p:nvPr/>
            </p:nvSpPr>
            <p:spPr>
              <a:xfrm>
                <a:off x="204787" y="1849438"/>
                <a:ext cx="114300" cy="107950"/>
              </a:xfrm>
              <a:custGeom>
                <a:rect b="b" l="l" r="r" t="t"/>
                <a:pathLst>
                  <a:path extrusionOk="0" h="23" w="24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25" name="Google Shape;25;p1"/>
              <p:cNvSpPr/>
              <p:nvPr/>
            </p:nvSpPr>
            <p:spPr>
              <a:xfrm>
                <a:off x="133350" y="4662488"/>
                <a:ext cx="23813" cy="2181225"/>
              </a:xfrm>
              <a:prstGeom prst="rect">
                <a:avLst/>
              </a:pr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26" name="Google Shape;26;p1"/>
              <p:cNvSpPr/>
              <p:nvPr/>
            </p:nvSpPr>
            <p:spPr>
              <a:xfrm>
                <a:off x="223837" y="5041900"/>
                <a:ext cx="369888" cy="1801813"/>
              </a:xfrm>
              <a:custGeom>
                <a:rect b="b" l="l" r="r" t="t"/>
                <a:pathLst>
                  <a:path extrusionOk="0" h="1135" w="233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27" name="Google Shape;27;p1"/>
              <p:cNvSpPr/>
              <p:nvPr/>
            </p:nvSpPr>
            <p:spPr>
              <a:xfrm>
                <a:off x="52387" y="4481513"/>
                <a:ext cx="190500" cy="190500"/>
              </a:xfrm>
              <a:custGeom>
                <a:rect b="b" l="l" r="r" t="t"/>
                <a:pathLst>
                  <a:path extrusionOk="0" h="40" w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28" name="Google Shape;28;p1"/>
              <p:cNvSpPr/>
              <p:nvPr/>
            </p:nvSpPr>
            <p:spPr>
              <a:xfrm>
                <a:off x="-14288" y="5627688"/>
                <a:ext cx="85725" cy="1216025"/>
              </a:xfrm>
              <a:custGeom>
                <a:rect b="b" l="l" r="r" t="t"/>
                <a:pathLst>
                  <a:path extrusionOk="0" h="766" w="54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29" name="Google Shape;29;p1"/>
              <p:cNvSpPr/>
              <p:nvPr/>
            </p:nvSpPr>
            <p:spPr>
              <a:xfrm>
                <a:off x="527050" y="4867275"/>
                <a:ext cx="190500" cy="188913"/>
              </a:xfrm>
              <a:custGeom>
                <a:rect b="b" l="l" r="r" t="t"/>
                <a:pathLst>
                  <a:path extrusionOk="0" h="40" w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30" name="Google Shape;30;p1"/>
              <p:cNvSpPr/>
              <p:nvPr/>
            </p:nvSpPr>
            <p:spPr>
              <a:xfrm>
                <a:off x="309562" y="5422900"/>
                <a:ext cx="374650" cy="1425575"/>
              </a:xfrm>
              <a:custGeom>
                <a:rect b="b" l="l" r="r" t="t"/>
                <a:pathLst>
                  <a:path extrusionOk="0" h="898" w="236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31" name="Google Shape;31;p1"/>
              <p:cNvSpPr/>
              <p:nvPr/>
            </p:nvSpPr>
            <p:spPr>
              <a:xfrm>
                <a:off x="569912" y="5945188"/>
                <a:ext cx="152400" cy="912813"/>
              </a:xfrm>
              <a:custGeom>
                <a:rect b="b" l="l" r="r" t="t"/>
                <a:pathLst>
                  <a:path extrusionOk="0" h="575" w="96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32" name="Google Shape;32;p1"/>
              <p:cNvSpPr/>
              <p:nvPr/>
            </p:nvSpPr>
            <p:spPr>
              <a:xfrm>
                <a:off x="612775" y="5246688"/>
                <a:ext cx="190500" cy="190500"/>
              </a:xfrm>
              <a:custGeom>
                <a:rect b="b" l="l" r="r" t="t"/>
                <a:pathLst>
                  <a:path extrusionOk="0" h="40" w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33" name="Google Shape;33;p1"/>
              <p:cNvSpPr/>
              <p:nvPr/>
            </p:nvSpPr>
            <p:spPr>
              <a:xfrm>
                <a:off x="612775" y="5764213"/>
                <a:ext cx="190500" cy="190500"/>
              </a:xfrm>
              <a:custGeom>
                <a:rect b="b" l="l" r="r" t="t"/>
                <a:pathLst>
                  <a:path extrusionOk="0" h="40" w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34" name="Google Shape;34;p1"/>
              <p:cNvSpPr/>
              <p:nvPr/>
            </p:nvSpPr>
            <p:spPr>
              <a:xfrm>
                <a:off x="669925" y="6330950"/>
                <a:ext cx="417513" cy="517525"/>
              </a:xfrm>
              <a:custGeom>
                <a:rect b="b" l="l" r="r" t="t"/>
                <a:pathLst>
                  <a:path extrusionOk="0" h="326" w="263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35" name="Google Shape;35;p1"/>
              <p:cNvSpPr/>
              <p:nvPr/>
            </p:nvSpPr>
            <p:spPr>
              <a:xfrm>
                <a:off x="1049337" y="6221413"/>
                <a:ext cx="157163" cy="147638"/>
              </a:xfrm>
              <a:custGeom>
                <a:rect b="b" l="l" r="r" t="t"/>
                <a:pathLst>
                  <a:path extrusionOk="0" h="31" w="33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rgbClr val="3B95DE"/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</p:grpSp>
        <p:grpSp>
          <p:nvGrpSpPr>
            <p:cNvPr id="36" name="Google Shape;36;p1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</p:grpSpPr>
          <p:sp>
            <p:nvSpPr>
              <p:cNvPr id="37" name="Google Shape;37;p1"/>
              <p:cNvSpPr/>
              <p:nvPr/>
            </p:nvSpPr>
            <p:spPr>
              <a:xfrm>
                <a:off x="11483975" y="0"/>
                <a:ext cx="417513" cy="512763"/>
              </a:xfrm>
              <a:custGeom>
                <a:rect b="b" l="l" r="r" t="t"/>
                <a:pathLst>
                  <a:path extrusionOk="0" h="323" w="26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B95DE">
                      <a:alpha val="60000"/>
                    </a:srgbClr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38" name="Google Shape;38;p1"/>
              <p:cNvSpPr/>
              <p:nvPr/>
            </p:nvSpPr>
            <p:spPr>
              <a:xfrm>
                <a:off x="11364912" y="474663"/>
                <a:ext cx="157163" cy="152400"/>
              </a:xfrm>
              <a:custGeom>
                <a:rect b="b" l="l" r="r" t="t"/>
                <a:pathLst>
                  <a:path extrusionOk="0" h="32" w="33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B95DE">
                      <a:alpha val="60000"/>
                    </a:srgbClr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39" name="Google Shape;39;p1"/>
              <p:cNvSpPr/>
              <p:nvPr/>
            </p:nvSpPr>
            <p:spPr>
              <a:xfrm>
                <a:off x="11631612" y="1539875"/>
                <a:ext cx="188913" cy="190500"/>
              </a:xfrm>
              <a:custGeom>
                <a:rect b="b" l="l" r="r" t="t"/>
                <a:pathLst>
                  <a:path extrusionOk="0" h="40" w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B95DE">
                      <a:alpha val="60000"/>
                    </a:srgbClr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40" name="Google Shape;40;p1"/>
              <p:cNvSpPr/>
              <p:nvPr/>
            </p:nvSpPr>
            <p:spPr>
              <a:xfrm>
                <a:off x="11531600" y="5694363"/>
                <a:ext cx="298450" cy="1154113"/>
              </a:xfrm>
              <a:custGeom>
                <a:rect b="b" l="l" r="r" t="t"/>
                <a:pathLst>
                  <a:path extrusionOk="0" h="727" w="188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B95DE">
                      <a:alpha val="60000"/>
                    </a:srgbClr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41" name="Google Shape;41;p1"/>
              <p:cNvSpPr/>
              <p:nvPr/>
            </p:nvSpPr>
            <p:spPr>
              <a:xfrm>
                <a:off x="11772900" y="5551488"/>
                <a:ext cx="157163" cy="155575"/>
              </a:xfrm>
              <a:custGeom>
                <a:rect b="b" l="l" r="r" t="t"/>
                <a:pathLst>
                  <a:path extrusionOk="0" h="33" w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B95DE">
                      <a:alpha val="60000"/>
                    </a:srgbClr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42" name="Google Shape;42;p1"/>
              <p:cNvSpPr/>
              <p:nvPr/>
            </p:nvSpPr>
            <p:spPr>
              <a:xfrm>
                <a:off x="11710987" y="4763"/>
                <a:ext cx="304800" cy="1544638"/>
              </a:xfrm>
              <a:custGeom>
                <a:rect b="b" l="l" r="r" t="t"/>
                <a:pathLst>
                  <a:path extrusionOk="0" h="973" w="192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B95DE">
                      <a:alpha val="60000"/>
                    </a:srgbClr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43" name="Google Shape;43;p1"/>
              <p:cNvSpPr/>
              <p:nvPr/>
            </p:nvSpPr>
            <p:spPr>
              <a:xfrm>
                <a:off x="11636375" y="4867275"/>
                <a:ext cx="188913" cy="188913"/>
              </a:xfrm>
              <a:custGeom>
                <a:rect b="b" l="l" r="r" t="t"/>
                <a:pathLst>
                  <a:path extrusionOk="0" h="40" w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B95DE">
                      <a:alpha val="60000"/>
                    </a:srgbClr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44" name="Google Shape;44;p1"/>
              <p:cNvSpPr/>
              <p:nvPr/>
            </p:nvSpPr>
            <p:spPr>
              <a:xfrm>
                <a:off x="11441112" y="5046663"/>
                <a:ext cx="307975" cy="1801813"/>
              </a:xfrm>
              <a:custGeom>
                <a:rect b="b" l="l" r="r" t="t"/>
                <a:pathLst>
                  <a:path extrusionOk="0" h="1135" w="194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B95DE">
                      <a:alpha val="60000"/>
                    </a:srgbClr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45" name="Google Shape;45;p1"/>
              <p:cNvSpPr/>
              <p:nvPr/>
            </p:nvSpPr>
            <p:spPr>
              <a:xfrm>
                <a:off x="11849100" y="6416675"/>
                <a:ext cx="190500" cy="188913"/>
              </a:xfrm>
              <a:custGeom>
                <a:rect b="b" l="l" r="r" t="t"/>
                <a:pathLst>
                  <a:path extrusionOk="0" h="40" w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B95DE">
                      <a:alpha val="60000"/>
                    </a:srgbClr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46" name="Google Shape;46;p1"/>
              <p:cNvSpPr/>
              <p:nvPr/>
            </p:nvSpPr>
            <p:spPr>
              <a:xfrm>
                <a:off x="11939587" y="6596063"/>
                <a:ext cx="23813" cy="252413"/>
              </a:xfrm>
              <a:prstGeom prst="rect">
                <a:avLst/>
              </a:prstGeom>
              <a:gradFill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B95DE">
                      <a:alpha val="60000"/>
                    </a:srgbClr>
                  </a:gs>
                </a:gsLst>
                <a:lin ang="5400000" scaled="0"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</p:grpSp>
      </p:grpSp>
      <p:sp>
        <p:nvSpPr>
          <p:cNvPr id="47" name="Google Shape;47;p1"/>
          <p:cNvSpPr txBox="1"/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Twentieth Century"/>
              <a:buNone/>
              <a:defRPr b="0" i="0" sz="36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8" name="Google Shape;48;p1"/>
          <p:cNvSpPr txBox="1"/>
          <p:nvPr>
            <p:ph idx="1" type="body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19100" lvl="0" marL="457200" marR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87350" lvl="1" marL="9144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71475" lvl="2" marL="13716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25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55600" lvl="3" marL="18288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55600" lvl="4" marL="22860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39725" lvl="5" marL="27432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5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39725" lvl="6" marL="32004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5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39725" lvl="7" marL="36576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5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39725" lvl="8" marL="41148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75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49" name="Google Shape;49;p1"/>
          <p:cNvSpPr txBox="1"/>
          <p:nvPr>
            <p:ph idx="10" type="dt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5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50" name="Google Shape;50;p1"/>
          <p:cNvSpPr txBox="1"/>
          <p:nvPr>
            <p:ph idx="11" type="ftr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50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51" name="Google Shape;51;p1"/>
          <p:cNvSpPr txBox="1"/>
          <p:nvPr>
            <p:ph idx="12" type="sldNum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sz="1050" u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r">
              <a:spcBef>
                <a:spcPts val="0"/>
              </a:spcBef>
              <a:buNone/>
              <a:defRPr b="0" sz="1050" u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r">
              <a:spcBef>
                <a:spcPts val="0"/>
              </a:spcBef>
              <a:buNone/>
              <a:defRPr b="0" sz="1050" u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r">
              <a:spcBef>
                <a:spcPts val="0"/>
              </a:spcBef>
              <a:buNone/>
              <a:defRPr b="0" sz="1050" u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r">
              <a:spcBef>
                <a:spcPts val="0"/>
              </a:spcBef>
              <a:buNone/>
              <a:defRPr b="0" sz="1050" u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r">
              <a:spcBef>
                <a:spcPts val="0"/>
              </a:spcBef>
              <a:buNone/>
              <a:defRPr b="0" sz="1050" u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r">
              <a:spcBef>
                <a:spcPts val="0"/>
              </a:spcBef>
              <a:buNone/>
              <a:defRPr b="0" sz="1050" u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r">
              <a:spcBef>
                <a:spcPts val="0"/>
              </a:spcBef>
              <a:buNone/>
              <a:defRPr b="0" sz="1050" u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r">
              <a:spcBef>
                <a:spcPts val="0"/>
              </a:spcBef>
              <a:buNone/>
              <a:defRPr b="0" sz="1050" u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3"/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  <p:sldLayoutId id="2147483661" r:id="rId16"/>
    <p:sldLayoutId id="2147483662" r:id="rId17"/>
    <p:sldLayoutId id="2147483663" r:id="rId18"/>
    <p:sldLayoutId id="2147483664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9"/>
          <p:cNvSpPr txBox="1"/>
          <p:nvPr>
            <p:ph type="ctrTitle"/>
          </p:nvPr>
        </p:nvSpPr>
        <p:spPr>
          <a:xfrm>
            <a:off x="1886256" y="1466492"/>
            <a:ext cx="8791575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ts val="6600"/>
              <a:buFont typeface="Twentieth Century"/>
              <a:buNone/>
            </a:pPr>
            <a:r>
              <a:rPr lang="es-ES" sz="6600">
                <a:solidFill>
                  <a:srgbClr val="A73C26"/>
                </a:solidFill>
              </a:rPr>
              <a:t>TP-INTEGRADOR </a:t>
            </a:r>
            <a:br>
              <a:rPr lang="es-ES" sz="6600">
                <a:solidFill>
                  <a:srgbClr val="A73C26"/>
                </a:solidFill>
              </a:rPr>
            </a:br>
            <a:r>
              <a:rPr lang="es-ES" sz="6600">
                <a:solidFill>
                  <a:srgbClr val="A73C26"/>
                </a:solidFill>
              </a:rPr>
              <a:t>SERVICIO DE CORREO ELECTRONICO</a:t>
            </a:r>
            <a:endParaRPr sz="6600">
              <a:solidFill>
                <a:srgbClr val="A73C26"/>
              </a:solidFill>
            </a:endParaRPr>
          </a:p>
        </p:txBody>
      </p:sp>
      <p:sp>
        <p:nvSpPr>
          <p:cNvPr id="235" name="Google Shape;235;p19"/>
          <p:cNvSpPr txBox="1"/>
          <p:nvPr>
            <p:ph idx="1" type="subTitle"/>
          </p:nvPr>
        </p:nvSpPr>
        <p:spPr>
          <a:xfrm>
            <a:off x="2092733" y="4378787"/>
            <a:ext cx="8791575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5000"/>
              <a:buNone/>
            </a:pPr>
            <a:r>
              <a:rPr lang="es-ES">
                <a:solidFill>
                  <a:schemeClr val="dk1"/>
                </a:solidFill>
              </a:rPr>
              <a:t>ASIGNATURA 271- ESTRUCTURAS DE DATOS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5000"/>
              <a:buNone/>
            </a:pPr>
            <a:r>
              <a:rPr lang="es-ES">
                <a:solidFill>
                  <a:schemeClr val="dk1"/>
                </a:solidFill>
              </a:rPr>
              <a:t>INTEGRANTES GRUPO 7: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5000"/>
              <a:buNone/>
            </a:pPr>
            <a:r>
              <a:rPr lang="es-ES">
                <a:solidFill>
                  <a:schemeClr val="dk1"/>
                </a:solidFill>
              </a:rPr>
              <a:t>RODRIGO PODOBA , MIGUEL MIGUEZ, JUAN FRANCISCO RUBIO  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5000"/>
              <a:buNone/>
            </a:pPr>
            <a:r>
              <a:rPr lang="es-ES">
                <a:solidFill>
                  <a:schemeClr val="dk1"/>
                </a:solidFill>
              </a:rPr>
              <a:t>PROFESOR ÁNGEL LEONARDO BIANCO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0"/>
          <p:cNvSpPr txBox="1"/>
          <p:nvPr>
            <p:ph type="ctrTitle"/>
          </p:nvPr>
        </p:nvSpPr>
        <p:spPr>
          <a:xfrm>
            <a:off x="1862625" y="2810992"/>
            <a:ext cx="7829100" cy="8631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rgbClr val="A73C26"/>
                </a:solidFill>
              </a:rPr>
              <a:t>Evolución del proyecto</a:t>
            </a:r>
            <a:endParaRPr>
              <a:solidFill>
                <a:srgbClr val="A73C26"/>
              </a:solidFill>
            </a:endParaRPr>
          </a:p>
        </p:txBody>
      </p:sp>
      <p:sp>
        <p:nvSpPr>
          <p:cNvPr id="241" name="Google Shape;241;p20"/>
          <p:cNvSpPr txBox="1"/>
          <p:nvPr>
            <p:ph idx="1" type="subTitle"/>
          </p:nvPr>
        </p:nvSpPr>
        <p:spPr>
          <a:xfrm>
            <a:off x="1730149" y="1677713"/>
            <a:ext cx="8791500" cy="16557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87350" lvl="0" marL="457200" rtl="0" algn="l"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500"/>
              <a:buChar char="-"/>
            </a:pPr>
            <a:r>
              <a:rPr lang="es-ES">
                <a:solidFill>
                  <a:srgbClr val="000000"/>
                </a:solidFill>
              </a:rPr>
              <a:t>Online, utilizando live share permitiendo un desarrollo coordinado.</a:t>
            </a:r>
            <a:endParaRPr>
              <a:solidFill>
                <a:srgbClr val="000000"/>
              </a:solidFill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Char char="-"/>
            </a:pPr>
            <a:r>
              <a:rPr lang="es-ES">
                <a:solidFill>
                  <a:srgbClr val="000000"/>
                </a:solidFill>
              </a:rPr>
              <a:t>Implementación de features con ramas de git.</a:t>
            </a:r>
            <a:endParaRPr>
              <a:solidFill>
                <a:srgbClr val="000000"/>
              </a:solidFill>
            </a:endParaRPr>
          </a:p>
          <a:p>
            <a:pPr indent="0" lvl="0" marL="9144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242" name="Google Shape;242;p20"/>
          <p:cNvSpPr txBox="1"/>
          <p:nvPr>
            <p:ph type="ctrTitle"/>
          </p:nvPr>
        </p:nvSpPr>
        <p:spPr>
          <a:xfrm>
            <a:off x="1782875" y="461393"/>
            <a:ext cx="8791500" cy="9681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rgbClr val="A73C26"/>
                </a:solidFill>
              </a:rPr>
              <a:t>Modalidad de trabajo</a:t>
            </a:r>
            <a:endParaRPr>
              <a:solidFill>
                <a:srgbClr val="A73C26"/>
              </a:solidFill>
            </a:endParaRPr>
          </a:p>
        </p:txBody>
      </p:sp>
      <p:sp>
        <p:nvSpPr>
          <p:cNvPr id="243" name="Google Shape;243;p20"/>
          <p:cNvSpPr txBox="1"/>
          <p:nvPr>
            <p:ph idx="1" type="subTitle"/>
          </p:nvPr>
        </p:nvSpPr>
        <p:spPr>
          <a:xfrm>
            <a:off x="1772900" y="3943342"/>
            <a:ext cx="8791500" cy="2137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87350" lvl="0" marL="457200" rtl="0" algn="l"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500"/>
              <a:buChar char="-"/>
            </a:pPr>
            <a:r>
              <a:rPr lang="es-ES">
                <a:solidFill>
                  <a:srgbClr val="000000"/>
                </a:solidFill>
              </a:rPr>
              <a:t>Modularización</a:t>
            </a:r>
            <a:r>
              <a:rPr lang="es-ES">
                <a:solidFill>
                  <a:srgbClr val="000000"/>
                </a:solidFill>
              </a:rPr>
              <a:t>.</a:t>
            </a:r>
            <a:endParaRPr>
              <a:solidFill>
                <a:srgbClr val="000000"/>
              </a:solidFill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Char char="-"/>
            </a:pPr>
            <a:r>
              <a:rPr lang="es-ES">
                <a:solidFill>
                  <a:srgbClr val="000000"/>
                </a:solidFill>
              </a:rPr>
              <a:t>Implementación de recursividad.</a:t>
            </a:r>
            <a:endParaRPr>
              <a:solidFill>
                <a:srgbClr val="000000"/>
              </a:solidFill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Char char="-"/>
            </a:pPr>
            <a:r>
              <a:rPr lang="es-ES">
                <a:solidFill>
                  <a:srgbClr val="000000"/>
                </a:solidFill>
              </a:rPr>
              <a:t>Test de casos límites.</a:t>
            </a:r>
            <a:endParaRPr>
              <a:solidFill>
                <a:srgbClr val="000000"/>
              </a:solidFill>
            </a:endParaRPr>
          </a:p>
          <a:p>
            <a:pPr indent="0" lvl="0" marL="9144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1"/>
          <p:cNvSpPr txBox="1"/>
          <p:nvPr>
            <p:ph type="ctrTitle"/>
          </p:nvPr>
        </p:nvSpPr>
        <p:spPr>
          <a:xfrm>
            <a:off x="1782875" y="62672"/>
            <a:ext cx="8791500" cy="9681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rgbClr val="A73C26"/>
                </a:solidFill>
              </a:rPr>
              <a:t>Investigación de buenas prácticas</a:t>
            </a:r>
            <a:endParaRPr>
              <a:solidFill>
                <a:srgbClr val="A73C26"/>
              </a:solidFill>
            </a:endParaRPr>
          </a:p>
        </p:txBody>
      </p:sp>
      <p:sp>
        <p:nvSpPr>
          <p:cNvPr id="249" name="Google Shape;249;p21"/>
          <p:cNvSpPr txBox="1"/>
          <p:nvPr>
            <p:ph idx="1" type="subTitle"/>
          </p:nvPr>
        </p:nvSpPr>
        <p:spPr>
          <a:xfrm>
            <a:off x="1690275" y="1109525"/>
            <a:ext cx="9513900" cy="53199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 fontScale="85000"/>
          </a:bodyPr>
          <a:lstStyle/>
          <a:p>
            <a:pPr indent="-363537" lvl="0" marL="457200" rtl="0" algn="l"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ct val="125000"/>
              <a:buChar char="-"/>
            </a:pPr>
            <a:r>
              <a:rPr lang="es-ES">
                <a:solidFill>
                  <a:srgbClr val="000000"/>
                </a:solidFill>
              </a:rPr>
              <a:t>Implementación de </a:t>
            </a:r>
            <a:r>
              <a:rPr lang="es-ES">
                <a:solidFill>
                  <a:srgbClr val="000000"/>
                </a:solidFill>
              </a:rPr>
              <a:t>librerías (</a:t>
            </a:r>
            <a:r>
              <a:rPr lang="es-ES">
                <a:solidFill>
                  <a:srgbClr val="A73C26"/>
                </a:solidFill>
              </a:rPr>
              <a:t>pytest</a:t>
            </a:r>
            <a:r>
              <a:rPr lang="es-ES">
                <a:solidFill>
                  <a:srgbClr val="000000"/>
                </a:solidFill>
              </a:rPr>
              <a:t>, </a:t>
            </a:r>
            <a:r>
              <a:rPr lang="es-ES">
                <a:solidFill>
                  <a:srgbClr val="A73C26"/>
                </a:solidFill>
              </a:rPr>
              <a:t>typing</a:t>
            </a:r>
            <a:r>
              <a:rPr lang="es-ES">
                <a:solidFill>
                  <a:srgbClr val="000000"/>
                </a:solidFill>
              </a:rPr>
              <a:t>)</a:t>
            </a:r>
            <a:r>
              <a:rPr lang="es-ES">
                <a:solidFill>
                  <a:srgbClr val="000000"/>
                </a:solidFill>
              </a:rPr>
              <a:t>. 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ES">
                <a:solidFill>
                  <a:srgbClr val="A73C26"/>
                </a:solidFill>
              </a:rPr>
              <a:t> </a:t>
            </a:r>
            <a:br>
              <a:rPr b="1" lang="es-ES">
                <a:solidFill>
                  <a:srgbClr val="A73C26"/>
                </a:solidFill>
              </a:rPr>
            </a:br>
            <a:r>
              <a:rPr b="1" lang="es-ES">
                <a:solidFill>
                  <a:srgbClr val="A73C26"/>
                </a:solidFill>
              </a:rPr>
              <a:t>Pytest</a:t>
            </a:r>
            <a:r>
              <a:rPr b="1" lang="es-ES">
                <a:solidFill>
                  <a:srgbClr val="A73C26"/>
                </a:solidFill>
              </a:rPr>
              <a:t>:</a:t>
            </a:r>
            <a:r>
              <a:rPr lang="es-ES">
                <a:solidFill>
                  <a:srgbClr val="A73C26"/>
                </a:solidFill>
              </a:rPr>
              <a:t> </a:t>
            </a:r>
            <a:r>
              <a:rPr lang="es-ES">
                <a:solidFill>
                  <a:schemeClr val="dk1"/>
                </a:solidFill>
              </a:rPr>
              <a:t>Implementada para la documentación de los casos límites.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ES">
                <a:solidFill>
                  <a:srgbClr val="A73C26"/>
                </a:solidFill>
              </a:rPr>
              <a:t>Typing:</a:t>
            </a:r>
            <a:r>
              <a:rPr lang="es-ES">
                <a:solidFill>
                  <a:srgbClr val="A73C26"/>
                </a:solidFill>
              </a:rPr>
              <a:t> </a:t>
            </a:r>
            <a:r>
              <a:rPr lang="es-ES">
                <a:solidFill>
                  <a:schemeClr val="dk1"/>
                </a:solidFill>
              </a:rPr>
              <a:t>Implementada para la detección de errores.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</a:rPr>
              <a:t>		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ES">
                <a:solidFill>
                  <a:srgbClr val="A73C26"/>
                </a:solidFill>
              </a:rPr>
              <a:t>(List, Dict):</a:t>
            </a:r>
            <a:r>
              <a:rPr lang="es-ES">
                <a:solidFill>
                  <a:schemeClr val="dk1"/>
                </a:solidFill>
              </a:rPr>
              <a:t> Para asegurar la integridad de nuestras estructuras de datos en Usuario y Carpeta.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s-ES">
                <a:solidFill>
                  <a:schemeClr val="dk1"/>
                </a:solidFill>
              </a:rPr>
            </a:br>
            <a:r>
              <a:rPr b="1" lang="es-ES">
                <a:solidFill>
                  <a:srgbClr val="A73C26"/>
                </a:solidFill>
              </a:rPr>
              <a:t>Optional:</a:t>
            </a:r>
            <a:r>
              <a:rPr lang="es-ES">
                <a:solidFill>
                  <a:schemeClr val="dk1"/>
                </a:solidFill>
              </a:rPr>
              <a:t> Para el manejo seguro de valores nulos, utilizado en la lógica de prioridades de Mensaje.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ES">
                <a:solidFill>
                  <a:srgbClr val="A73C26"/>
                </a:solidFill>
              </a:rPr>
              <a:t>Callable:</a:t>
            </a:r>
            <a:r>
              <a:rPr lang="es-ES">
                <a:solidFill>
                  <a:schemeClr val="dk1"/>
                </a:solidFill>
              </a:rPr>
              <a:t> Para definir interfaces claras en nuestros algoritmos de búsqueda y filtrado, permitiendo pasar funciones lambda como argumentos de manera segura.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ES">
                <a:solidFill>
                  <a:srgbClr val="A73C26"/>
                </a:solidFill>
              </a:rPr>
              <a:t>TypeChecking:</a:t>
            </a:r>
            <a:r>
              <a:rPr lang="es-ES">
                <a:solidFill>
                  <a:schemeClr val="dk1"/>
                </a:solidFill>
              </a:rPr>
              <a:t> Permite que las clases se referencien mutuamente sin romper la ejecución del programa.	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5000"/>
              <a:buFont typeface="Arial"/>
              <a:buNone/>
            </a:pPr>
            <a:r>
              <a:rPr lang="es-ES">
                <a:solidFill>
                  <a:schemeClr val="dk1"/>
                </a:solidFill>
              </a:rPr>
              <a:t>		</a:t>
            </a:r>
            <a:endParaRPr>
              <a:solidFill>
                <a:schemeClr val="dk1"/>
              </a:solidFill>
            </a:endParaRPr>
          </a:p>
          <a:p>
            <a:pPr indent="0" lvl="0" marL="9144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2"/>
          <p:cNvSpPr txBox="1"/>
          <p:nvPr>
            <p:ph idx="1" type="subTitle"/>
          </p:nvPr>
        </p:nvSpPr>
        <p:spPr>
          <a:xfrm>
            <a:off x="1690275" y="1109525"/>
            <a:ext cx="9513900" cy="53199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387350" lvl="0" marL="457200" rtl="0" algn="l"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500"/>
              <a:buChar char="-"/>
            </a:pPr>
            <a:r>
              <a:rPr lang="es-ES">
                <a:solidFill>
                  <a:srgbClr val="000000"/>
                </a:solidFill>
              </a:rPr>
              <a:t>Implementación de funcionalidades avanzadas. 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ES">
                <a:solidFill>
                  <a:srgbClr val="A73C26"/>
                </a:solidFill>
              </a:rPr>
              <a:t> </a:t>
            </a:r>
            <a:br>
              <a:rPr b="1" lang="es-ES">
                <a:solidFill>
                  <a:srgbClr val="A73C26"/>
                </a:solidFill>
              </a:rPr>
            </a:br>
            <a:r>
              <a:rPr b="1" lang="es-ES">
                <a:solidFill>
                  <a:srgbClr val="A73C26"/>
                </a:solidFill>
              </a:rPr>
              <a:t>Property:</a:t>
            </a:r>
            <a:r>
              <a:rPr lang="es-ES">
                <a:solidFill>
                  <a:srgbClr val="A73C26"/>
                </a:solidFill>
              </a:rPr>
              <a:t> </a:t>
            </a:r>
            <a:r>
              <a:rPr lang="es-ES">
                <a:solidFill>
                  <a:schemeClr val="dk1"/>
                </a:solidFill>
              </a:rPr>
              <a:t>Encapsulamiento para la protección de los atributos.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ES">
                <a:solidFill>
                  <a:srgbClr val="A73C26"/>
                </a:solidFill>
              </a:rPr>
              <a:t>Yield</a:t>
            </a:r>
            <a:r>
              <a:rPr b="1" lang="es-ES">
                <a:solidFill>
                  <a:srgbClr val="A73C26"/>
                </a:solidFill>
              </a:rPr>
              <a:t>:</a:t>
            </a:r>
            <a:r>
              <a:rPr lang="es-ES">
                <a:solidFill>
                  <a:srgbClr val="A73C26"/>
                </a:solidFill>
              </a:rPr>
              <a:t> </a:t>
            </a:r>
            <a:r>
              <a:rPr lang="es-ES">
                <a:solidFill>
                  <a:schemeClr val="dk1"/>
                </a:solidFill>
              </a:rPr>
              <a:t>Implementada para el manejo de memoria.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</a:rPr>
              <a:t>		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ES">
                <a:solidFill>
                  <a:srgbClr val="A73C26"/>
                </a:solidFill>
              </a:rPr>
              <a:t>Lambda</a:t>
            </a:r>
            <a:r>
              <a:rPr b="1" lang="es-ES">
                <a:solidFill>
                  <a:srgbClr val="A73C26"/>
                </a:solidFill>
              </a:rPr>
              <a:t>:</a:t>
            </a:r>
            <a:r>
              <a:rPr lang="es-ES">
                <a:solidFill>
                  <a:schemeClr val="dk1"/>
                </a:solidFill>
              </a:rPr>
              <a:t> Funciones anónimas que se utilizan una vez.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s-ES">
                <a:solidFill>
                  <a:schemeClr val="dk1"/>
                </a:solidFill>
              </a:rPr>
            </a:br>
            <a:r>
              <a:rPr b="1" lang="es-ES">
                <a:solidFill>
                  <a:srgbClr val="A73C26"/>
                </a:solidFill>
              </a:rPr>
              <a:t>Keyword Only (*)</a:t>
            </a:r>
            <a:r>
              <a:rPr b="1" lang="es-ES">
                <a:solidFill>
                  <a:srgbClr val="A73C26"/>
                </a:solidFill>
              </a:rPr>
              <a:t>:</a:t>
            </a:r>
            <a:r>
              <a:rPr lang="es-ES">
                <a:solidFill>
                  <a:schemeClr val="dk1"/>
                </a:solidFill>
              </a:rPr>
              <a:t> Obliga a pasar argumentos por nombres para evitar </a:t>
            </a:r>
            <a:r>
              <a:rPr lang="es-ES">
                <a:solidFill>
                  <a:schemeClr val="dk1"/>
                </a:solidFill>
              </a:rPr>
              <a:t>ambigüedad</a:t>
            </a:r>
            <a:r>
              <a:rPr lang="es-ES"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ES">
                <a:solidFill>
                  <a:srgbClr val="A73C26"/>
                </a:solidFill>
              </a:rPr>
              <a:t>__future__</a:t>
            </a:r>
            <a:r>
              <a:rPr b="1" lang="es-ES">
                <a:solidFill>
                  <a:srgbClr val="A73C26"/>
                </a:solidFill>
              </a:rPr>
              <a:t>:</a:t>
            </a:r>
            <a:r>
              <a:rPr lang="es-ES">
                <a:solidFill>
                  <a:schemeClr val="dk1"/>
                </a:solidFill>
              </a:rPr>
              <a:t> Permite usar </a:t>
            </a:r>
            <a:r>
              <a:rPr lang="es-ES">
                <a:solidFill>
                  <a:schemeClr val="dk1"/>
                </a:solidFill>
              </a:rPr>
              <a:t>sintaxis</a:t>
            </a:r>
            <a:r>
              <a:rPr lang="es-ES">
                <a:solidFill>
                  <a:schemeClr val="dk1"/>
                </a:solidFill>
              </a:rPr>
              <a:t> moderna y que una clase se pueda llamar a </a:t>
            </a:r>
            <a:r>
              <a:rPr lang="es-ES">
                <a:solidFill>
                  <a:schemeClr val="dk1"/>
                </a:solidFill>
              </a:rPr>
              <a:t>sí</a:t>
            </a:r>
            <a:r>
              <a:rPr lang="es-ES">
                <a:solidFill>
                  <a:schemeClr val="dk1"/>
                </a:solidFill>
              </a:rPr>
              <a:t> misma</a:t>
            </a:r>
            <a:r>
              <a:rPr lang="es-ES"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</a:rPr>
              <a:t>	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>
                <a:solidFill>
                  <a:schemeClr val="dk1"/>
                </a:solidFill>
              </a:rPr>
              <a:t>		</a:t>
            </a:r>
            <a:endParaRPr>
              <a:solidFill>
                <a:schemeClr val="dk1"/>
              </a:solidFill>
            </a:endParaRPr>
          </a:p>
          <a:p>
            <a:pPr indent="0" lvl="0" marL="9144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255" name="Google Shape;255;p22"/>
          <p:cNvSpPr txBox="1"/>
          <p:nvPr>
            <p:ph type="ctrTitle"/>
          </p:nvPr>
        </p:nvSpPr>
        <p:spPr>
          <a:xfrm>
            <a:off x="1643325" y="132447"/>
            <a:ext cx="8791500" cy="9681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rgbClr val="A73C26"/>
                </a:solidFill>
              </a:rPr>
              <a:t>Funcionalidades avanzadas</a:t>
            </a:r>
            <a:endParaRPr>
              <a:solidFill>
                <a:srgbClr val="A73C26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3"/>
          <p:cNvSpPr txBox="1"/>
          <p:nvPr>
            <p:ph type="title"/>
          </p:nvPr>
        </p:nvSpPr>
        <p:spPr>
          <a:xfrm>
            <a:off x="1152116" y="693173"/>
            <a:ext cx="9905998" cy="1478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ts val="4000"/>
              <a:buFont typeface="Twentieth Century"/>
              <a:buNone/>
            </a:pPr>
            <a:r>
              <a:rPr b="1" lang="es-ES" sz="4000">
                <a:solidFill>
                  <a:srgbClr val="A73C26"/>
                </a:solidFill>
              </a:rPr>
              <a:t>CONTEXTO Y DESAFÍO DEL PROYECTO</a:t>
            </a:r>
            <a:br>
              <a:rPr b="1" lang="es-ES">
                <a:solidFill>
                  <a:srgbClr val="A73C26"/>
                </a:solidFill>
              </a:rPr>
            </a:br>
            <a:r>
              <a:rPr lang="es-ES" sz="2200">
                <a:solidFill>
                  <a:schemeClr val="dk1"/>
                </a:solidFill>
              </a:rPr>
              <a:t>APLICACIÓN DE ESTRUCTURAS DE DATOS PARA RESOLVER DESAFÍOS DE GESTIÓN Y RENDIMIENTO EN UN SISTEMA DE CORREO ELECTRÓNICO.</a:t>
            </a:r>
            <a:endParaRPr sz="2200">
              <a:solidFill>
                <a:schemeClr val="dk1"/>
              </a:solidFill>
            </a:endParaRPr>
          </a:p>
        </p:txBody>
      </p:sp>
      <p:sp>
        <p:nvSpPr>
          <p:cNvPr id="261" name="Google Shape;261;p23"/>
          <p:cNvSpPr txBox="1"/>
          <p:nvPr>
            <p:ph idx="1" type="body"/>
          </p:nvPr>
        </p:nvSpPr>
        <p:spPr>
          <a:xfrm>
            <a:off x="1143000" y="2675560"/>
            <a:ext cx="9905999" cy="40213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Flujo Principal:</a:t>
            </a:r>
            <a:r>
              <a:rPr lang="es-ES">
                <a:solidFill>
                  <a:srgbClr val="A73C26"/>
                </a:solidFill>
              </a:rPr>
              <a:t> </a:t>
            </a:r>
            <a:r>
              <a:rPr lang="es-ES">
                <a:solidFill>
                  <a:schemeClr val="dk1"/>
                </a:solidFill>
              </a:rPr>
              <a:t>Implementar un servicio capaz de gestionar, almacenar y enrutar eficientemente el volumen creciente de la comunicación digital.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ct val="125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Gestión de Urgencia:</a:t>
            </a:r>
            <a:r>
              <a:rPr lang="es-ES">
                <a:solidFill>
                  <a:srgbClr val="A73C26"/>
                </a:solidFill>
              </a:rPr>
              <a:t> </a:t>
            </a:r>
            <a:r>
              <a:rPr lang="es-ES">
                <a:solidFill>
                  <a:schemeClr val="dk1"/>
                </a:solidFill>
              </a:rPr>
              <a:t>Necesidad de un sistema que respete la prioridad de los mensajes para tareas críticas del servidor (resuelto con Heap).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ct val="125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Organización Compleja:</a:t>
            </a:r>
            <a:r>
              <a:rPr lang="es-ES">
                <a:solidFill>
                  <a:srgbClr val="A73C26"/>
                </a:solidFill>
              </a:rPr>
              <a:t> </a:t>
            </a:r>
            <a:r>
              <a:rPr lang="es-ES">
                <a:solidFill>
                  <a:schemeClr val="dk1"/>
                </a:solidFill>
              </a:rPr>
              <a:t>Permitir al usuario la creación de jerarquías de carpetas anidadas para organizar su bandeja (resuelto con Árbol y Recursividad).</a:t>
            </a:r>
            <a:endParaRPr/>
          </a:p>
          <a:p>
            <a:pPr indent="-52387" lvl="0" marL="22860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ct val="125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4"/>
          <p:cNvSpPr txBox="1"/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ct val="100000"/>
              <a:buFont typeface="Twentieth Century"/>
              <a:buNone/>
            </a:pPr>
            <a:r>
              <a:rPr b="1" lang="es-ES" sz="4400">
                <a:solidFill>
                  <a:srgbClr val="A73C26"/>
                </a:solidFill>
              </a:rPr>
              <a:t>ALCANCE Y COMPONENTES CLAVE:</a:t>
            </a:r>
            <a:br>
              <a:rPr b="1" lang="es-ES" sz="4000"/>
            </a:br>
            <a:br>
              <a:rPr lang="es-ES"/>
            </a:br>
            <a:endParaRPr/>
          </a:p>
        </p:txBody>
      </p:sp>
      <p:sp>
        <p:nvSpPr>
          <p:cNvPr id="267" name="Google Shape;267;p24"/>
          <p:cNvSpPr txBox="1"/>
          <p:nvPr>
            <p:ph idx="1" type="body"/>
          </p:nvPr>
        </p:nvSpPr>
        <p:spPr>
          <a:xfrm>
            <a:off x="1062754" y="1514169"/>
            <a:ext cx="9905999" cy="47253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77500" lnSpcReduction="20000"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Arquitectura Modular:</a:t>
            </a:r>
            <a:r>
              <a:rPr lang="es-ES">
                <a:solidFill>
                  <a:srgbClr val="A73C26"/>
                </a:solidFill>
              </a:rPr>
              <a:t> </a:t>
            </a:r>
            <a:r>
              <a:rPr lang="es-ES">
                <a:solidFill>
                  <a:schemeClr val="dk1"/>
                </a:solidFill>
              </a:rPr>
              <a:t>El sistema fue diseñado bajo una estructura modularizada (separando Server, Usuario, Mensaje y Carpeta) para facilitar el desarrollo, la comprensión y el mantenimiento.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ct val="125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Servidor (ServidorCorreo):</a:t>
            </a:r>
            <a:r>
              <a:rPr lang="es-ES">
                <a:solidFill>
                  <a:srgbClr val="A73C26"/>
                </a:solidFill>
              </a:rPr>
              <a:t> </a:t>
            </a:r>
            <a:r>
              <a:rPr lang="es-ES">
                <a:solidFill>
                  <a:schemeClr val="dk1"/>
                </a:solidFill>
              </a:rPr>
              <a:t>Actúa como el núcleo centralizado, manejando el registro de usuarios, la autenticación y el enrutamiento de mensajes. Es el gestor de la Cola de Prioridad (Heap).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ct val="125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Gestión del Usuario (Usuario):</a:t>
            </a:r>
            <a:r>
              <a:rPr lang="es-ES">
                <a:solidFill>
                  <a:srgbClr val="A73C26"/>
                </a:solidFill>
              </a:rPr>
              <a:t> </a:t>
            </a:r>
            <a:r>
              <a:rPr lang="es-ES">
                <a:solidFill>
                  <a:schemeClr val="dk1"/>
                </a:solidFill>
              </a:rPr>
              <a:t>Se encarga de la gestión individual. Contiene la estructura de Árbol de carpetas y aplica los Filtros Automáticos al recibir un nuevo mensaje.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ct val="125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Mensaje (Mensaje):</a:t>
            </a:r>
            <a:r>
              <a:rPr lang="es-ES">
                <a:solidFill>
                  <a:srgbClr val="A73C26"/>
                </a:solidFill>
              </a:rPr>
              <a:t> </a:t>
            </a:r>
            <a:r>
              <a:rPr lang="es-ES">
                <a:solidFill>
                  <a:schemeClr val="dk1"/>
                </a:solidFill>
              </a:rPr>
              <a:t>Es una clase de datos inmutable. Incorpora la información esencial y el atributo de prioridad opcional (rango 1 a 5) para integrarse con el Heap.</a:t>
            </a:r>
            <a:endParaRPr/>
          </a:p>
          <a:p>
            <a:pPr indent="-80962" lvl="0" marL="22860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ct val="125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5"/>
          <p:cNvSpPr txBox="1"/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ts val="4400"/>
              <a:buFont typeface="Twentieth Century"/>
              <a:buNone/>
            </a:pPr>
            <a:r>
              <a:rPr b="1" lang="es-ES" sz="4400">
                <a:solidFill>
                  <a:srgbClr val="A73C26"/>
                </a:solidFill>
              </a:rPr>
              <a:t>OBJETIVOS DEL PROYECTO</a:t>
            </a:r>
            <a:br>
              <a:rPr b="1" lang="es-ES"/>
            </a:br>
            <a:endParaRPr/>
          </a:p>
        </p:txBody>
      </p:sp>
      <p:sp>
        <p:nvSpPr>
          <p:cNvPr id="273" name="Google Shape;273;p25"/>
          <p:cNvSpPr txBox="1"/>
          <p:nvPr>
            <p:ph idx="1" type="body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10000"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Objetivo Académico:</a:t>
            </a:r>
            <a:r>
              <a:rPr lang="es-ES">
                <a:solidFill>
                  <a:srgbClr val="A73C26"/>
                </a:solidFill>
              </a:rPr>
              <a:t> </a:t>
            </a:r>
            <a:r>
              <a:rPr lang="es-ES">
                <a:solidFill>
                  <a:schemeClr val="dk1"/>
                </a:solidFill>
              </a:rPr>
              <a:t>Aplicar y demostrar el uso eficiente de estructuras de datos no lineales, específicamente </a:t>
            </a:r>
            <a:r>
              <a:rPr lang="es-ES">
                <a:solidFill>
                  <a:srgbClr val="A73C26"/>
                </a:solidFill>
              </a:rPr>
              <a:t>Árboles</a:t>
            </a:r>
            <a:r>
              <a:rPr lang="es-ES">
                <a:solidFill>
                  <a:schemeClr val="dk1"/>
                </a:solidFill>
              </a:rPr>
              <a:t> (para la jerarquía de carpetas) y </a:t>
            </a:r>
            <a:r>
              <a:rPr lang="es-ES">
                <a:solidFill>
                  <a:srgbClr val="A73C26"/>
                </a:solidFill>
              </a:rPr>
              <a:t>Heaps</a:t>
            </a:r>
            <a:r>
              <a:rPr lang="es-ES">
                <a:solidFill>
                  <a:schemeClr val="dk1"/>
                </a:solidFill>
              </a:rPr>
              <a:t> (para la gestión de prioridad de mensajes).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Objetivo de Rendimiento:</a:t>
            </a:r>
            <a:r>
              <a:rPr lang="es-ES">
                <a:solidFill>
                  <a:srgbClr val="A73C26"/>
                </a:solidFill>
              </a:rPr>
              <a:t> </a:t>
            </a:r>
            <a:r>
              <a:rPr lang="es-ES">
                <a:solidFill>
                  <a:schemeClr val="dk1"/>
                </a:solidFill>
              </a:rPr>
              <a:t>Garantizar que las operaciones críticas mantengan una complejidad temporal logarítmica (O(log n)), asegurando la escalabilidad del servicio.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Objetivo Funcional:</a:t>
            </a:r>
            <a:r>
              <a:rPr lang="es-ES">
                <a:solidFill>
                  <a:srgbClr val="A73C26"/>
                </a:solidFill>
              </a:rPr>
              <a:t> </a:t>
            </a:r>
            <a:r>
              <a:rPr lang="es-ES">
                <a:solidFill>
                  <a:schemeClr val="dk1"/>
                </a:solidFill>
              </a:rPr>
              <a:t>Implementar algoritmos de recorrido recursivos (incluyendo DFS y BFS) que permitan la gestión avanzada de mensajes y la navegación completa por la estructura de carpetas anidadas.</a:t>
            </a:r>
            <a:endParaRPr/>
          </a:p>
          <a:p>
            <a:pPr indent="-52387" lvl="0" marL="22860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ct val="125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6"/>
          <p:cNvSpPr txBox="1"/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ts val="4400"/>
              <a:buFont typeface="Twentieth Century"/>
              <a:buNone/>
            </a:pPr>
            <a:r>
              <a:rPr b="1" lang="es-ES" sz="4400">
                <a:solidFill>
                  <a:srgbClr val="A73C26"/>
                </a:solidFill>
              </a:rPr>
              <a:t>ARQUITECTURA DEL SISTEMA</a:t>
            </a:r>
            <a:r>
              <a:rPr b="1" lang="es-ES"/>
              <a:t>	</a:t>
            </a:r>
            <a:br>
              <a:rPr b="1" lang="es-ES"/>
            </a:br>
            <a:endParaRPr/>
          </a:p>
        </p:txBody>
      </p:sp>
      <p:sp>
        <p:nvSpPr>
          <p:cNvPr id="279" name="Google Shape;279;p26"/>
          <p:cNvSpPr txBox="1"/>
          <p:nvPr>
            <p:ph idx="1" type="body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10000"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ServidorCorreo: </a:t>
            </a:r>
            <a:r>
              <a:rPr lang="es-ES">
                <a:solidFill>
                  <a:schemeClr val="dk1"/>
                </a:solidFill>
              </a:rPr>
              <a:t>actúa como núcleo central del sistema, centralizando el registro de usuarios, la autenticación y el enrutamiento de mensajes.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Usuario: </a:t>
            </a:r>
            <a:r>
              <a:rPr lang="es-ES">
                <a:solidFill>
                  <a:schemeClr val="dk1"/>
                </a:solidFill>
              </a:rPr>
              <a:t>Representa a cada usuario registrado, donde se van a alojar las distintas carpetas de mensajes 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Mensaje:</a:t>
            </a:r>
            <a:r>
              <a:rPr lang="es-ES">
                <a:solidFill>
                  <a:srgbClr val="A73C26"/>
                </a:solidFill>
              </a:rPr>
              <a:t> </a:t>
            </a:r>
            <a:r>
              <a:rPr lang="es-ES">
                <a:solidFill>
                  <a:schemeClr val="dk1"/>
                </a:solidFill>
              </a:rPr>
              <a:t>Actúa como una clase inmutable con  atributos necesarios  del objeto para que las estructuras de datos y los algoritmos funciones, excluyendo el cuerpo de texto.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Algorithms: </a:t>
            </a:r>
            <a:r>
              <a:rPr lang="es-ES">
                <a:solidFill>
                  <a:schemeClr val="dk1"/>
                </a:solidFill>
              </a:rPr>
              <a:t>Reúne las utilidades para  la búsqueda recursiva, recorridos (DFS/BFS) y ordenamiento.</a:t>
            </a:r>
            <a:endParaRPr/>
          </a:p>
          <a:p>
            <a:pPr indent="-52387" lvl="0" marL="22860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ct val="125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85" name="Google Shape;285;p27"/>
          <p:cNvPicPr preferRelativeResize="0"/>
          <p:nvPr/>
        </p:nvPicPr>
        <p:blipFill rotWithShape="1">
          <a:blip r:embed="rId4">
            <a:alphaModFix amt="30000"/>
          </a:blip>
          <a:srcRect b="0" l="0" r="0" t="0"/>
          <a:stretch/>
        </p:blipFill>
        <p:spPr>
          <a:xfrm>
            <a:off x="0" y="0"/>
            <a:ext cx="12192003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7"/>
          <p:cNvSpPr txBox="1"/>
          <p:nvPr>
            <p:ph type="title"/>
          </p:nvPr>
        </p:nvSpPr>
        <p:spPr>
          <a:xfrm>
            <a:off x="1250158" y="105577"/>
            <a:ext cx="4459286" cy="1478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ts val="4000"/>
              <a:buFont typeface="Twentieth Century"/>
              <a:buNone/>
            </a:pPr>
            <a:r>
              <a:rPr b="1" lang="es-ES" sz="4000">
                <a:solidFill>
                  <a:srgbClr val="A73C26"/>
                </a:solidFill>
              </a:rPr>
              <a:t>MODULARIZACIÓN</a:t>
            </a:r>
            <a:endParaRPr/>
          </a:p>
        </p:txBody>
      </p:sp>
      <p:sp>
        <p:nvSpPr>
          <p:cNvPr id="287" name="Google Shape;287;p27"/>
          <p:cNvSpPr/>
          <p:nvPr/>
        </p:nvSpPr>
        <p:spPr>
          <a:xfrm>
            <a:off x="1077913" y="2227528"/>
            <a:ext cx="4459287" cy="396504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ES" sz="1800" u="none" cap="none" strike="noStrike">
                <a:solidFill>
                  <a:srgbClr val="A73C26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Relaciones de la Estructura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i="0" lang="es-ES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Composición Jerárquica: El Usuario contiene la estructura de Árbol mediante la anidación recursiva de Carpetas. Esta es la base de la organización del usuario.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i="0" lang="es-ES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Gestión de Prioridad: El Servidor utiliza el Heap (implementado en el objeto Usuario) para garantizar que el mensaje más urgente se procese primero.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i="0" lang="es-ES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Enrutamiento Automático: El Usuario aplica el Filtro a los Mensajes entrantes, moviéndolos automáticamente sin intervención del servidor.</a:t>
            </a:r>
            <a:endParaRPr/>
          </a:p>
          <a:p>
            <a:pPr indent="111125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75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pSp>
        <p:nvGrpSpPr>
          <p:cNvPr id="288" name="Google Shape;288;p27"/>
          <p:cNvGrpSpPr/>
          <p:nvPr/>
        </p:nvGrpSpPr>
        <p:grpSpPr>
          <a:xfrm>
            <a:off x="0" y="0"/>
            <a:ext cx="1220788" cy="6858001"/>
            <a:chOff x="-14288" y="0"/>
            <a:chExt cx="1220788" cy="6858001"/>
          </a:xfrm>
        </p:grpSpPr>
        <p:sp>
          <p:nvSpPr>
            <p:cNvPr id="289" name="Google Shape;289;p27"/>
            <p:cNvSpPr/>
            <p:nvPr/>
          </p:nvSpPr>
          <p:spPr>
            <a:xfrm>
              <a:off x="114300" y="4763"/>
              <a:ext cx="23813" cy="2181225"/>
            </a:xfrm>
            <a:prstGeom prst="rect">
              <a:avLst/>
            </a:pr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90" name="Google Shape;290;p27"/>
            <p:cNvSpPr/>
            <p:nvPr/>
          </p:nvSpPr>
          <p:spPr>
            <a:xfrm>
              <a:off x="33337" y="2176463"/>
              <a:ext cx="190500" cy="190500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91" name="Google Shape;291;p27"/>
            <p:cNvSpPr/>
            <p:nvPr/>
          </p:nvSpPr>
          <p:spPr>
            <a:xfrm>
              <a:off x="28575" y="4021138"/>
              <a:ext cx="190500" cy="188913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92" name="Google Shape;292;p27"/>
            <p:cNvSpPr/>
            <p:nvPr/>
          </p:nvSpPr>
          <p:spPr>
            <a:xfrm>
              <a:off x="200025" y="4763"/>
              <a:ext cx="369888" cy="1811338"/>
            </a:xfrm>
            <a:custGeom>
              <a:rect b="b" l="l" r="r" t="t"/>
              <a:pathLst>
                <a:path extrusionOk="0" h="1141" w="233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93" name="Google Shape;293;p27"/>
            <p:cNvSpPr/>
            <p:nvPr/>
          </p:nvSpPr>
          <p:spPr>
            <a:xfrm>
              <a:off x="503237" y="1801813"/>
              <a:ext cx="190500" cy="188913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94" name="Google Shape;294;p27"/>
            <p:cNvSpPr/>
            <p:nvPr/>
          </p:nvSpPr>
          <p:spPr>
            <a:xfrm>
              <a:off x="285750" y="4763"/>
              <a:ext cx="369888" cy="1430338"/>
            </a:xfrm>
            <a:custGeom>
              <a:rect b="b" l="l" r="r" t="t"/>
              <a:pathLst>
                <a:path extrusionOk="0" h="901" w="233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95" name="Google Shape;295;p27"/>
            <p:cNvSpPr/>
            <p:nvPr/>
          </p:nvSpPr>
          <p:spPr>
            <a:xfrm>
              <a:off x="546100" y="0"/>
              <a:ext cx="152400" cy="912813"/>
            </a:xfrm>
            <a:custGeom>
              <a:rect b="b" l="l" r="r" t="t"/>
              <a:pathLst>
                <a:path extrusionOk="0" h="575" w="96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96" name="Google Shape;296;p27"/>
            <p:cNvSpPr/>
            <p:nvPr/>
          </p:nvSpPr>
          <p:spPr>
            <a:xfrm>
              <a:off x="588962" y="1420813"/>
              <a:ext cx="190500" cy="190500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97" name="Google Shape;297;p27"/>
            <p:cNvSpPr/>
            <p:nvPr/>
          </p:nvSpPr>
          <p:spPr>
            <a:xfrm>
              <a:off x="588962" y="903288"/>
              <a:ext cx="190500" cy="190500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98" name="Google Shape;298;p27"/>
            <p:cNvSpPr/>
            <p:nvPr/>
          </p:nvSpPr>
          <p:spPr>
            <a:xfrm>
              <a:off x="641350" y="0"/>
              <a:ext cx="422275" cy="527050"/>
            </a:xfrm>
            <a:custGeom>
              <a:rect b="b" l="l" r="r" t="t"/>
              <a:pathLst>
                <a:path extrusionOk="0" h="332" w="266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99" name="Google Shape;299;p27"/>
            <p:cNvSpPr/>
            <p:nvPr/>
          </p:nvSpPr>
          <p:spPr>
            <a:xfrm>
              <a:off x="1020762" y="488950"/>
              <a:ext cx="161925" cy="147638"/>
            </a:xfrm>
            <a:custGeom>
              <a:rect b="b" l="l" r="r" t="t"/>
              <a:pathLst>
                <a:path extrusionOk="0" h="31" w="34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cxnSp>
          <p:nvCxnSpPr>
            <p:cNvPr id="300" name="Google Shape;300;p27"/>
            <p:cNvCxnSpPr/>
            <p:nvPr/>
          </p:nvCxnSpPr>
          <p:spPr>
            <a:xfrm>
              <a:off x="-4763" y="9525"/>
              <a:ext cx="0" cy="0"/>
            </a:xfrm>
            <a:prstGeom prst="straightConnector1">
              <a:avLst/>
            </a:pr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 cap="flat" cmpd="sng" w="9525">
              <a:solidFill>
                <a:srgbClr val="FFFFFF"/>
              </a:solidFill>
              <a:prstDash val="solid"/>
              <a:miter lim="800000"/>
              <a:headEnd len="med" w="med" type="none"/>
              <a:tailEnd len="med" w="med" type="none"/>
            </a:ln>
          </p:spPr>
        </p:cxnSp>
        <p:sp>
          <p:nvSpPr>
            <p:cNvPr id="301" name="Google Shape;301;p27"/>
            <p:cNvSpPr/>
            <p:nvPr/>
          </p:nvSpPr>
          <p:spPr>
            <a:xfrm>
              <a:off x="9525" y="1801813"/>
              <a:ext cx="123825" cy="127000"/>
            </a:xfrm>
            <a:custGeom>
              <a:rect b="b" l="l" r="r" t="t"/>
              <a:pathLst>
                <a:path extrusionOk="0" h="80" w="78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302" name="Google Shape;302;p27"/>
            <p:cNvSpPr/>
            <p:nvPr/>
          </p:nvSpPr>
          <p:spPr>
            <a:xfrm>
              <a:off x="-9525" y="3549650"/>
              <a:ext cx="147638" cy="481013"/>
            </a:xfrm>
            <a:custGeom>
              <a:rect b="b" l="l" r="r" t="t"/>
              <a:pathLst>
                <a:path extrusionOk="0" h="303" w="9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303" name="Google Shape;303;p27"/>
            <p:cNvSpPr/>
            <p:nvPr/>
          </p:nvSpPr>
          <p:spPr>
            <a:xfrm>
              <a:off x="128587" y="1382713"/>
              <a:ext cx="142875" cy="476250"/>
            </a:xfrm>
            <a:custGeom>
              <a:rect b="b" l="l" r="r" t="t"/>
              <a:pathLst>
                <a:path extrusionOk="0" h="300" w="9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304" name="Google Shape;304;p27"/>
            <p:cNvSpPr/>
            <p:nvPr/>
          </p:nvSpPr>
          <p:spPr>
            <a:xfrm>
              <a:off x="204787" y="1849438"/>
              <a:ext cx="114300" cy="107950"/>
            </a:xfrm>
            <a:custGeom>
              <a:rect b="b" l="l" r="r" t="t"/>
              <a:pathLst>
                <a:path extrusionOk="0" h="23" w="24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305" name="Google Shape;305;p27"/>
            <p:cNvSpPr/>
            <p:nvPr/>
          </p:nvSpPr>
          <p:spPr>
            <a:xfrm>
              <a:off x="133350" y="4662488"/>
              <a:ext cx="23813" cy="2181225"/>
            </a:xfrm>
            <a:prstGeom prst="rect">
              <a:avLst/>
            </a:pr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306" name="Google Shape;306;p27"/>
            <p:cNvSpPr/>
            <p:nvPr/>
          </p:nvSpPr>
          <p:spPr>
            <a:xfrm>
              <a:off x="223837" y="5041900"/>
              <a:ext cx="369888" cy="1801813"/>
            </a:xfrm>
            <a:custGeom>
              <a:rect b="b" l="l" r="r" t="t"/>
              <a:pathLst>
                <a:path extrusionOk="0" h="1135" w="233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307" name="Google Shape;307;p27"/>
            <p:cNvSpPr/>
            <p:nvPr/>
          </p:nvSpPr>
          <p:spPr>
            <a:xfrm>
              <a:off x="52387" y="4481513"/>
              <a:ext cx="190500" cy="190500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308" name="Google Shape;308;p27"/>
            <p:cNvSpPr/>
            <p:nvPr/>
          </p:nvSpPr>
          <p:spPr>
            <a:xfrm>
              <a:off x="-14288" y="5627688"/>
              <a:ext cx="85725" cy="1216025"/>
            </a:xfrm>
            <a:custGeom>
              <a:rect b="b" l="l" r="r" t="t"/>
              <a:pathLst>
                <a:path extrusionOk="0" h="766" w="54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309" name="Google Shape;309;p27"/>
            <p:cNvSpPr/>
            <p:nvPr/>
          </p:nvSpPr>
          <p:spPr>
            <a:xfrm>
              <a:off x="527050" y="4867275"/>
              <a:ext cx="190500" cy="188913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310" name="Google Shape;310;p27"/>
            <p:cNvSpPr/>
            <p:nvPr/>
          </p:nvSpPr>
          <p:spPr>
            <a:xfrm>
              <a:off x="309562" y="5422900"/>
              <a:ext cx="374650" cy="1425575"/>
            </a:xfrm>
            <a:custGeom>
              <a:rect b="b" l="l" r="r" t="t"/>
              <a:pathLst>
                <a:path extrusionOk="0" h="898" w="236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311" name="Google Shape;311;p27"/>
            <p:cNvSpPr/>
            <p:nvPr/>
          </p:nvSpPr>
          <p:spPr>
            <a:xfrm>
              <a:off x="569912" y="5945188"/>
              <a:ext cx="152400" cy="912813"/>
            </a:xfrm>
            <a:custGeom>
              <a:rect b="b" l="l" r="r" t="t"/>
              <a:pathLst>
                <a:path extrusionOk="0" h="575" w="96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312" name="Google Shape;312;p27"/>
            <p:cNvSpPr/>
            <p:nvPr/>
          </p:nvSpPr>
          <p:spPr>
            <a:xfrm>
              <a:off x="612775" y="5246688"/>
              <a:ext cx="190500" cy="190500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313" name="Google Shape;313;p27"/>
            <p:cNvSpPr/>
            <p:nvPr/>
          </p:nvSpPr>
          <p:spPr>
            <a:xfrm>
              <a:off x="612775" y="5764213"/>
              <a:ext cx="190500" cy="190500"/>
            </a:xfrm>
            <a:custGeom>
              <a:rect b="b" l="l" r="r" t="t"/>
              <a:pathLst>
                <a:path extrusionOk="0" h="40" w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314" name="Google Shape;314;p27"/>
            <p:cNvSpPr/>
            <p:nvPr/>
          </p:nvSpPr>
          <p:spPr>
            <a:xfrm>
              <a:off x="669925" y="6330950"/>
              <a:ext cx="417513" cy="517525"/>
            </a:xfrm>
            <a:custGeom>
              <a:rect b="b" l="l" r="r" t="t"/>
              <a:pathLst>
                <a:path extrusionOk="0" h="326" w="263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315" name="Google Shape;315;p27"/>
            <p:cNvSpPr/>
            <p:nvPr/>
          </p:nvSpPr>
          <p:spPr>
            <a:xfrm>
              <a:off x="1049337" y="6221413"/>
              <a:ext cx="157163" cy="147638"/>
            </a:xfrm>
            <a:custGeom>
              <a:rect b="b" l="l" r="r" t="t"/>
              <a:pathLst>
                <a:path extrusionOk="0" h="31" w="33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rgbClr val="3B95DE"/>
                </a:gs>
              </a:gsLst>
              <a:lin ang="54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</p:grpSp>
      <p:graphicFrame>
        <p:nvGraphicFramePr>
          <p:cNvPr id="316" name="Google Shape;316;p27"/>
          <p:cNvGraphicFramePr/>
          <p:nvPr/>
        </p:nvGraphicFramePr>
        <p:xfrm>
          <a:off x="6164163" y="21764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{E2B614F8-FBFB-4AA5-B456-E7C0A61BC8F2}</a:tableStyleId>
              </a:tblPr>
              <a:tblGrid>
                <a:gridCol w="1506500"/>
                <a:gridCol w="1832700"/>
                <a:gridCol w="2067925"/>
              </a:tblGrid>
              <a:tr h="331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Twentieth Century"/>
                        <a:buNone/>
                      </a:pPr>
                      <a:r>
                        <a:rPr b="0" lang="es-ES" sz="1500" u="none" cap="none" strike="noStrike">
                          <a:solidFill>
                            <a:schemeClr val="dk1"/>
                          </a:solidFill>
                        </a:rPr>
                        <a:t>Archivo/Módulo</a:t>
                      </a:r>
                      <a:endParaRPr/>
                    </a:p>
                  </a:txBody>
                  <a:tcPr marT="37625" marB="37625" marR="75275" marL="75275" anchor="ctr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Twentieth Century"/>
                        <a:buNone/>
                      </a:pPr>
                      <a:r>
                        <a:rPr b="0" lang="es-ES" sz="1500" u="none" cap="none" strike="noStrike">
                          <a:solidFill>
                            <a:schemeClr val="dk1"/>
                          </a:solidFill>
                        </a:rPr>
                        <a:t>Contenido Clave</a:t>
                      </a:r>
                      <a:endParaRPr/>
                    </a:p>
                  </a:txBody>
                  <a:tcPr marT="37625" marB="37625" marR="75275" marL="75275" anchor="ctr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Twentieth Century"/>
                        <a:buNone/>
                      </a:pPr>
                      <a:r>
                        <a:rPr b="0" lang="es-ES" sz="1500" u="none" cap="none" strike="noStrike">
                          <a:solidFill>
                            <a:schemeClr val="dk1"/>
                          </a:solidFill>
                        </a:rPr>
                        <a:t>Rol en el Sistema</a:t>
                      </a:r>
                      <a:endParaRPr/>
                    </a:p>
                  </a:txBody>
                  <a:tcPr marT="37625" marB="37625" marR="75275" marL="75275" anchor="ctr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82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Courier New"/>
                        <a:buNone/>
                      </a:pPr>
                      <a:r>
                        <a:rPr b="0" lang="es-ES" sz="1500" u="none" cap="none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servidor.py</a:t>
                      </a:r>
                      <a:endParaRPr b="0" sz="15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7625" marB="37625" marR="75275" marL="75275" anchor="ctr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Twentieth Century"/>
                        <a:buNone/>
                      </a:pPr>
                      <a:r>
                        <a:rPr b="0" lang="es-ES" sz="1500" u="none" cap="none" strike="noStrike">
                          <a:solidFill>
                            <a:schemeClr val="dk1"/>
                          </a:solidFill>
                        </a:rPr>
                        <a:t>Clase </a:t>
                      </a:r>
                      <a:r>
                        <a:rPr b="0" lang="es-ES" sz="1500" u="none" cap="none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ServidorCorreo</a:t>
                      </a:r>
                      <a:endParaRPr b="0" sz="15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7625" marB="37625" marR="75275" marL="75275" anchor="ctr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Twentieth Century"/>
                        <a:buNone/>
                      </a:pPr>
                      <a:r>
                        <a:rPr b="0" lang="es-ES" sz="1500" u="none" cap="none" strike="noStrike">
                          <a:solidFill>
                            <a:schemeClr val="dk1"/>
                          </a:solidFill>
                        </a:rPr>
                        <a:t>Orquestador central y gestor de la Cola de Prioridad (Heap).</a:t>
                      </a:r>
                      <a:endParaRPr/>
                    </a:p>
                  </a:txBody>
                  <a:tcPr marT="37625" marB="37625" marR="75275" marL="75275" anchor="ctr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82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Courier New"/>
                        <a:buNone/>
                      </a:pPr>
                      <a:r>
                        <a:rPr b="0" lang="es-ES" sz="1500" u="none" cap="none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usuario.py</a:t>
                      </a:r>
                      <a:endParaRPr b="0" sz="15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7625" marB="37625" marR="75275" marL="75275" anchor="ctr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Twentieth Century"/>
                        <a:buNone/>
                      </a:pPr>
                      <a:r>
                        <a:rPr b="0" lang="es-ES" sz="1500" u="none" cap="none" strike="noStrike">
                          <a:solidFill>
                            <a:schemeClr val="dk1"/>
                          </a:solidFill>
                        </a:rPr>
                        <a:t>Clase </a:t>
                      </a:r>
                      <a:r>
                        <a:rPr b="0" lang="es-ES" sz="1500" u="none" cap="none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Usuario</a:t>
                      </a:r>
                      <a:endParaRPr b="0" sz="15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7625" marB="37625" marR="75275" marL="75275" anchor="ctr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Twentieth Century"/>
                        <a:buNone/>
                      </a:pPr>
                      <a:r>
                        <a:rPr b="0" lang="es-ES" sz="1500" u="none" cap="none" strike="noStrike">
                          <a:solidFill>
                            <a:schemeClr val="dk1"/>
                          </a:solidFill>
                        </a:rPr>
                        <a:t>Gestor del Árbol de Carpetas y de los Filtros Automáticos.</a:t>
                      </a:r>
                      <a:endParaRPr/>
                    </a:p>
                  </a:txBody>
                  <a:tcPr marT="37625" marB="37625" marR="75275" marL="75275" anchor="ctr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82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Courier New"/>
                        <a:buNone/>
                      </a:pPr>
                      <a:r>
                        <a:rPr b="0" lang="es-ES" sz="1500" u="none" cap="none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carpeta.py</a:t>
                      </a:r>
                      <a:endParaRPr b="0" sz="15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7625" marB="37625" marR="75275" marL="75275" anchor="ctr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Twentieth Century"/>
                        <a:buNone/>
                      </a:pPr>
                      <a:r>
                        <a:rPr b="0" lang="es-ES" sz="1500" u="none" cap="none" strike="noStrike">
                          <a:solidFill>
                            <a:schemeClr val="dk1"/>
                          </a:solidFill>
                        </a:rPr>
                        <a:t>Clase </a:t>
                      </a:r>
                      <a:r>
                        <a:rPr b="0" lang="es-ES" sz="1500" u="none" cap="none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Carpeta</a:t>
                      </a:r>
                      <a:endParaRPr b="0" sz="15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7625" marB="37625" marR="75275" marL="75275" anchor="ctr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Twentieth Century"/>
                        <a:buNone/>
                      </a:pPr>
                      <a:r>
                        <a:rPr b="0" lang="es-ES" sz="1500" u="none" cap="none" strike="noStrike">
                          <a:solidFill>
                            <a:schemeClr val="dk1"/>
                          </a:solidFill>
                        </a:rPr>
                        <a:t>Implementa la Recursividad para la navegación anidada.</a:t>
                      </a:r>
                      <a:endParaRPr/>
                    </a:p>
                  </a:txBody>
                  <a:tcPr marT="37625" marB="37625" marR="75275" marL="75275" anchor="ctr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82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Courier New"/>
                        <a:buNone/>
                      </a:pPr>
                      <a:r>
                        <a:rPr b="0" lang="es-ES" sz="1500" u="none" cap="none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mensaje.py</a:t>
                      </a:r>
                      <a:endParaRPr b="0" sz="15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7625" marB="37625" marR="75275" marL="75275" anchor="ctr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Twentieth Century"/>
                        <a:buNone/>
                      </a:pPr>
                      <a:r>
                        <a:rPr b="0" lang="es-ES" sz="1500" u="none" cap="none" strike="noStrike">
                          <a:solidFill>
                            <a:schemeClr val="dk1"/>
                          </a:solidFill>
                        </a:rPr>
                        <a:t>Clase </a:t>
                      </a:r>
                      <a:r>
                        <a:rPr b="0" lang="es-ES" sz="1500" u="none" cap="none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Mensaje</a:t>
                      </a:r>
                      <a:endParaRPr b="0" sz="15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7625" marB="37625" marR="75275" marL="75275" anchor="ctr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Twentieth Century"/>
                        <a:buNone/>
                      </a:pPr>
                      <a:r>
                        <a:rPr b="0" lang="es-ES" sz="1500" u="none" cap="none" strike="noStrike">
                          <a:solidFill>
                            <a:schemeClr val="dk1"/>
                          </a:solidFill>
                        </a:rPr>
                        <a:t>Objeto inmutable con metadatos de prioridad.</a:t>
                      </a:r>
                      <a:endParaRPr/>
                    </a:p>
                  </a:txBody>
                  <a:tcPr marT="37625" marB="37625" marR="75275" marL="75275" anchor="ctr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17" name="Google Shape;317;p27"/>
          <p:cNvSpPr txBox="1"/>
          <p:nvPr/>
        </p:nvSpPr>
        <p:spPr>
          <a:xfrm>
            <a:off x="6164160" y="744319"/>
            <a:ext cx="5394427" cy="14373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ES" sz="1800">
                <a:solidFill>
                  <a:srgbClr val="A73C26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Estructura Modular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El proyecto se dividió en módulos para la claridad y mantenibilidad del código: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28"/>
          <p:cNvSpPr txBox="1"/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ts val="4400"/>
              <a:buFont typeface="Twentieth Century"/>
              <a:buNone/>
            </a:pPr>
            <a:r>
              <a:rPr lang="es-ES" sz="4400">
                <a:solidFill>
                  <a:srgbClr val="A73C26"/>
                </a:solidFill>
              </a:rPr>
              <a:t>ESTRUCTURA DE DATOS I: ÁRBOL DE CARPETAS</a:t>
            </a:r>
            <a:endParaRPr/>
          </a:p>
        </p:txBody>
      </p:sp>
      <p:sp>
        <p:nvSpPr>
          <p:cNvPr id="323" name="Google Shape;323;p28"/>
          <p:cNvSpPr txBox="1"/>
          <p:nvPr>
            <p:ph idx="1" type="body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Modelado Jerárquico: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5000"/>
              <a:buNone/>
            </a:pPr>
            <a:r>
              <a:rPr lang="es-ES">
                <a:solidFill>
                  <a:schemeClr val="dk1"/>
                </a:solidFill>
              </a:rPr>
              <a:t>La clase carpeta utiliza una estructura recursiva, donde cada carpeta es un nodo que puede contener N subcarpetas.</a:t>
            </a:r>
            <a:br>
              <a:rPr lang="es-ES"/>
            </a:br>
            <a:r>
              <a:rPr b="1" lang="es-ES">
                <a:solidFill>
                  <a:srgbClr val="A73C26"/>
                </a:solidFill>
              </a:rPr>
              <a:t>Eficiencia de Acceso: 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5000"/>
              <a:buNone/>
            </a:pPr>
            <a:r>
              <a:rPr lang="es-ES">
                <a:solidFill>
                  <a:schemeClr val="dk1"/>
                </a:solidFill>
              </a:rPr>
              <a:t>El uso de árboles nos permite búsquedas con complejidad O (log n).</a:t>
            </a:r>
            <a:br>
              <a:rPr lang="es-ES">
                <a:solidFill>
                  <a:schemeClr val="dk1"/>
                </a:solidFill>
              </a:rPr>
            </a:br>
            <a:br>
              <a:rPr lang="es-ES"/>
            </a:br>
            <a:r>
              <a:rPr b="1" lang="es-ES">
                <a:solidFill>
                  <a:srgbClr val="A73C26"/>
                </a:solidFill>
              </a:rPr>
              <a:t>Base de recursividad: 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5000"/>
              <a:buNone/>
            </a:pPr>
            <a:r>
              <a:rPr lang="es-ES">
                <a:solidFill>
                  <a:schemeClr val="dk1"/>
                </a:solidFill>
              </a:rPr>
              <a:t>Habilita algoritmos como mover mensajes que operan en profundidad indefinida con un solo llamado.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29"/>
          <p:cNvSpPr txBox="1"/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ts val="4400"/>
              <a:buFont typeface="Twentieth Century"/>
              <a:buNone/>
            </a:pPr>
            <a:r>
              <a:rPr b="1" lang="es-ES" sz="4400">
                <a:solidFill>
                  <a:srgbClr val="A73C26"/>
                </a:solidFill>
              </a:rPr>
              <a:t>ESTRUCTURA DE DATOS II: HEAP DE PRIORIDAD</a:t>
            </a:r>
            <a:endParaRPr/>
          </a:p>
        </p:txBody>
      </p:sp>
      <p:sp>
        <p:nvSpPr>
          <p:cNvPr id="329" name="Google Shape;329;p29"/>
          <p:cNvSpPr txBox="1"/>
          <p:nvPr>
            <p:ph idx="1" type="body"/>
          </p:nvPr>
        </p:nvSpPr>
        <p:spPr>
          <a:xfrm>
            <a:off x="1141412" y="2318312"/>
            <a:ext cx="9905999" cy="35417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10000"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5000"/>
              <a:buNone/>
            </a:pPr>
            <a:r>
              <a:rPr lang="es-ES">
                <a:solidFill>
                  <a:schemeClr val="dk1"/>
                </a:solidFill>
              </a:rPr>
              <a:t>Para cumplir con el requisito de que los mensajes críticos sean atendidos primero se implementó un Min-Heap.</a:t>
            </a:r>
            <a:endParaRPr/>
          </a:p>
          <a:p>
            <a:pPr indent="-52387" lvl="0" marL="22860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ct val="125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Lógica de prioridad por rango (1-5):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5000"/>
              <a:buNone/>
            </a:pPr>
            <a:r>
              <a:rPr lang="es-ES">
                <a:solidFill>
                  <a:schemeClr val="dk1"/>
                </a:solidFill>
              </a:rPr>
              <a:t>Se considera de prioridad alta (1) la raíz del heap y de prioridad baja (5) las hojas del Heap.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5000"/>
              <a:buNone/>
            </a:pPr>
            <a:r>
              <a:rPr lang="es-ES">
                <a:solidFill>
                  <a:schemeClr val="dk1"/>
                </a:solidFill>
              </a:rPr>
              <a:t>La extracción del mas urgente se logra con una complejidad O(log n) y se respeta el orden FIFO para la misma prioridad.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30"/>
          <p:cNvSpPr txBox="1"/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ts val="4400"/>
              <a:buFont typeface="Twentieth Century"/>
              <a:buNone/>
            </a:pPr>
            <a:r>
              <a:rPr b="1" lang="es-ES" sz="4400">
                <a:solidFill>
                  <a:srgbClr val="A73C26"/>
                </a:solidFill>
              </a:rPr>
              <a:t>ALGORITMOS DE RECORRIDO 	</a:t>
            </a:r>
            <a:endParaRPr/>
          </a:p>
        </p:txBody>
      </p:sp>
      <p:sp>
        <p:nvSpPr>
          <p:cNvPr id="335" name="Google Shape;335;p30"/>
          <p:cNvSpPr txBox="1"/>
          <p:nvPr>
            <p:ph idx="1" type="body"/>
          </p:nvPr>
        </p:nvSpPr>
        <p:spPr>
          <a:xfrm>
            <a:off x="1143000" y="2249487"/>
            <a:ext cx="9905999" cy="35417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</a:pPr>
            <a:r>
              <a:rPr lang="es-ES">
                <a:solidFill>
                  <a:schemeClr val="dk1"/>
                </a:solidFill>
              </a:rPr>
              <a:t>Navegación inteligente de la estructura de datos  con las siguientes implementaciones: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ts val="3000"/>
              <a:buNone/>
            </a:pPr>
            <a:r>
              <a:rPr b="1" lang="es-ES">
                <a:solidFill>
                  <a:srgbClr val="A73C26"/>
                </a:solidFill>
              </a:rPr>
              <a:t>Recursivo: </a:t>
            </a:r>
            <a:r>
              <a:rPr lang="es-ES">
                <a:solidFill>
                  <a:schemeClr val="dk1"/>
                </a:solidFill>
              </a:rPr>
              <a:t>DFS  (profundidad) recorre toda la rama de carpetas antes de pasar a la </a:t>
            </a:r>
            <a:r>
              <a:rPr lang="es-ES">
                <a:solidFill>
                  <a:schemeClr val="dk1"/>
                </a:solidFill>
              </a:rPr>
              <a:t>siguiente</a:t>
            </a:r>
            <a:r>
              <a:rPr lang="es-ES">
                <a:solidFill>
                  <a:schemeClr val="dk1"/>
                </a:solidFill>
              </a:rPr>
              <a:t> rama.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ts val="3000"/>
              <a:buNone/>
            </a:pPr>
            <a:r>
              <a:rPr b="1" lang="es-ES">
                <a:solidFill>
                  <a:srgbClr val="A73C26"/>
                </a:solidFill>
              </a:rPr>
              <a:t>Iterativo/Cola: </a:t>
            </a:r>
            <a:r>
              <a:rPr lang="es-ES">
                <a:solidFill>
                  <a:schemeClr val="dk1"/>
                </a:solidFill>
              </a:rPr>
              <a:t>BFS (amplitud) itera por las carpetas de primer nivel antes de pasar a la siguiente.  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1"/>
          <p:cNvSpPr txBox="1"/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ts val="3600"/>
              <a:buFont typeface="Twentieth Century"/>
              <a:buNone/>
            </a:pPr>
            <a:r>
              <a:rPr b="1" lang="es-ES">
                <a:solidFill>
                  <a:srgbClr val="A73C26"/>
                </a:solidFill>
              </a:rPr>
              <a:t>ALGORITMO CLAVE: RECURSIVIDAD</a:t>
            </a:r>
            <a:br>
              <a:rPr b="1" lang="es-ES">
                <a:solidFill>
                  <a:srgbClr val="A73C26"/>
                </a:solidFill>
              </a:rPr>
            </a:br>
            <a:r>
              <a:rPr lang="es-ES" sz="1600">
                <a:solidFill>
                  <a:schemeClr val="dk1"/>
                </a:solidFill>
              </a:rPr>
              <a:t>MOTOR DE NAVEGACIÓN PARA ESTRUCTURAS ANIDADAS</a:t>
            </a:r>
            <a:br>
              <a:rPr lang="es-ES"/>
            </a:br>
            <a:r>
              <a:rPr lang="es-ES"/>
              <a:t>	</a:t>
            </a:r>
            <a:endParaRPr/>
          </a:p>
        </p:txBody>
      </p:sp>
      <p:sp>
        <p:nvSpPr>
          <p:cNvPr id="341" name="Google Shape;341;p31"/>
          <p:cNvSpPr txBox="1"/>
          <p:nvPr>
            <p:ph idx="1" type="body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85000" lnSpcReduction="20000"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5000"/>
              <a:buNone/>
            </a:pPr>
            <a:r>
              <a:rPr lang="es-ES">
                <a:solidFill>
                  <a:schemeClr val="dk1"/>
                </a:solidFill>
              </a:rPr>
              <a:t>Permite procesar una jerarquía de carpetas de profundidad  desconocida sin necesidad de bucles complejos.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ct val="1250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Lógica “Divide y Vencerás” 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5000"/>
              <a:buNone/>
            </a:pPr>
            <a:r>
              <a:rPr lang="es-ES">
                <a:solidFill>
                  <a:schemeClr val="dk1"/>
                </a:solidFill>
              </a:rPr>
              <a:t>El problema global (buscar en todo el correo) se reduce a un problema pequeño (buscar en l carpeta actual y repetir)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Eficiencia de Código 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5000"/>
              <a:buNone/>
            </a:pPr>
            <a:r>
              <a:rPr lang="es-ES">
                <a:solidFill>
                  <a:schemeClr val="dk1"/>
                </a:solidFill>
              </a:rPr>
              <a:t>Reduce la complejidad del mantenimiento con una sola función que gestiona tanto la carpeta raíz como la subcarpeta más profunda. 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ct val="125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32"/>
          <p:cNvSpPr txBox="1"/>
          <p:nvPr>
            <p:ph type="title"/>
          </p:nvPr>
        </p:nvSpPr>
        <p:spPr>
          <a:xfrm>
            <a:off x="1143001" y="634560"/>
            <a:ext cx="9905998" cy="1478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ct val="100000"/>
              <a:buFont typeface="Twentieth Century"/>
              <a:buNone/>
            </a:pPr>
            <a:r>
              <a:rPr b="1" lang="es-ES" sz="4400">
                <a:solidFill>
                  <a:srgbClr val="A73C26"/>
                </a:solidFill>
              </a:rPr>
              <a:t>DESAFÍOS Y SOLUCIONES I </a:t>
            </a:r>
            <a:br>
              <a:rPr lang="es-ES">
                <a:solidFill>
                  <a:srgbClr val="A73C26"/>
                </a:solidFill>
              </a:rPr>
            </a:br>
            <a:r>
              <a:rPr b="1" lang="es-ES" sz="1600">
                <a:solidFill>
                  <a:schemeClr val="dk1"/>
                </a:solidFill>
              </a:rPr>
              <a:t>RIESGO DE LA COMPLEJIDAD LINEAL</a:t>
            </a:r>
            <a:br>
              <a:rPr b="1" lang="es-ES" sz="1600">
                <a:solidFill>
                  <a:schemeClr val="dk1"/>
                </a:solidFill>
              </a:rPr>
            </a:br>
            <a:br>
              <a:rPr lang="es-ES">
                <a:solidFill>
                  <a:srgbClr val="A73C26"/>
                </a:solidFill>
              </a:rPr>
            </a:br>
            <a:endParaRPr>
              <a:solidFill>
                <a:srgbClr val="A73C26"/>
              </a:solidFill>
            </a:endParaRPr>
          </a:p>
        </p:txBody>
      </p:sp>
      <p:sp>
        <p:nvSpPr>
          <p:cNvPr id="347" name="Google Shape;347;p32"/>
          <p:cNvSpPr txBox="1"/>
          <p:nvPr>
            <p:ph idx="1" type="body"/>
          </p:nvPr>
        </p:nvSpPr>
        <p:spPr>
          <a:xfrm>
            <a:off x="1143001" y="2239654"/>
            <a:ext cx="9905999" cy="35417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70000" lnSpcReduction="20000"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Riesgo Identificado (Árboles): </a:t>
            </a:r>
            <a:r>
              <a:rPr lang="es-ES">
                <a:solidFill>
                  <a:schemeClr val="dk1"/>
                </a:solidFill>
              </a:rPr>
              <a:t>Aunque el Árbol Binario de Búsqueda ofrece una complejidad , si los usuarios crean carpetas de forma secuencial (ej. siempre añadiendo al final), el árbol puede convertirse en una lista enlazada.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Consecuencia Crítica: </a:t>
            </a:r>
            <a:r>
              <a:rPr lang="es-ES">
                <a:solidFill>
                  <a:schemeClr val="dk1"/>
                </a:solidFill>
              </a:rPr>
              <a:t>Esto provoca que las operaciones de búsqueda de carpetas pasen a tener una complejidad lineal , volviendo el sistema lento e ineficiente a medida que aumenta el número de carpetas.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Solución Propuesta (Mitigación)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Estructuras Auto-Balanceadas: </a:t>
            </a:r>
            <a:r>
              <a:rPr lang="es-ES">
                <a:solidFill>
                  <a:schemeClr val="dk1"/>
                </a:solidFill>
              </a:rPr>
              <a:t>Para garantizar la eficiencia en el peor caso, la solución recomendada es migrar la estructura a un Árbol AVL o un Árbol Rojo-Negro.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Garantía de Rendimiento: </a:t>
            </a:r>
            <a:r>
              <a:rPr lang="es-ES">
                <a:solidFill>
                  <a:schemeClr val="dk1"/>
                </a:solidFill>
              </a:rPr>
              <a:t>Estas estructuras aseguran que la complejidad de las operaciones de búsqueda, inserción y eliminación se mantenga consistentemente en , independientemente del patrón de creación de carpetas por parte del usuario.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ct val="125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3"/>
          <p:cNvSpPr txBox="1"/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ts val="3600"/>
              <a:buFont typeface="Twentieth Century"/>
              <a:buNone/>
            </a:pPr>
            <a:r>
              <a:rPr lang="es-ES">
                <a:solidFill>
                  <a:srgbClr val="A73C26"/>
                </a:solidFill>
              </a:rPr>
              <a:t>DESAFÍOS Y SOLUCIONES II</a:t>
            </a:r>
            <a:endParaRPr/>
          </a:p>
        </p:txBody>
      </p:sp>
      <p:sp>
        <p:nvSpPr>
          <p:cNvPr id="353" name="Google Shape;353;p33"/>
          <p:cNvSpPr txBox="1"/>
          <p:nvPr>
            <p:ph idx="1" type="body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62500" lnSpcReduction="20000"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Desafío del Flujo de Mensajes:</a:t>
            </a:r>
            <a:r>
              <a:rPr lang="es-ES">
                <a:solidFill>
                  <a:srgbClr val="A73C26"/>
                </a:solidFill>
              </a:rPr>
              <a:t> </a:t>
            </a:r>
            <a:r>
              <a:rPr lang="es-ES">
                <a:solidFill>
                  <a:schemeClr val="dk1"/>
                </a:solidFill>
              </a:rPr>
              <a:t>Necesidad de que los mensajes críticos interrumpan la cola normal para ser procesados inmediatamente, respetando la regla FIFO entre iguales.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Solución (Heap):</a:t>
            </a:r>
            <a:r>
              <a:rPr lang="es-ES">
                <a:solidFill>
                  <a:srgbClr val="A73C26"/>
                </a:solidFill>
              </a:rPr>
              <a:t> </a:t>
            </a:r>
            <a:r>
              <a:rPr lang="es-ES">
                <a:solidFill>
                  <a:schemeClr val="dk1"/>
                </a:solidFill>
              </a:rPr>
              <a:t>Uso del Heap de Prioridad Mínima. La estructura gestiona la urgencia automáticamente, permitiendo la extracción rápida del mensaje más importante.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Desafío de la Búsqueda Exhaustiva:</a:t>
            </a:r>
            <a:r>
              <a:rPr lang="es-ES">
                <a:solidFill>
                  <a:srgbClr val="A73C26"/>
                </a:solidFill>
              </a:rPr>
              <a:t> </a:t>
            </a:r>
            <a:r>
              <a:rPr lang="es-ES">
                <a:solidFill>
                  <a:schemeClr val="dk1"/>
                </a:solidFill>
              </a:rPr>
              <a:t>Necesidad de buscar mensajes en toda la jerarquía de carpetas de un usuario sin perder ningún mensaje.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Solución (Recursividad/DFS):</a:t>
            </a:r>
            <a:r>
              <a:rPr lang="es-ES">
                <a:solidFill>
                  <a:srgbClr val="A73C26"/>
                </a:solidFill>
              </a:rPr>
              <a:t> </a:t>
            </a:r>
            <a:r>
              <a:rPr lang="es-ES">
                <a:solidFill>
                  <a:schemeClr val="dk1"/>
                </a:solidFill>
              </a:rPr>
              <a:t>Implementación de la recursividad en la clase Carpeta y uso del DFS (Búsqueda en Profundidad) para recorrer todo el Árbol de forma completa y segura.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Desafío de Enrutamiento:</a:t>
            </a:r>
            <a:r>
              <a:rPr lang="es-ES"/>
              <a:t> </a:t>
            </a:r>
            <a:r>
              <a:rPr lang="es-ES">
                <a:solidFill>
                  <a:schemeClr val="dk1"/>
                </a:solidFill>
              </a:rPr>
              <a:t>Necesidad de organizar la bandeja de entrada del usuario de forma automática para mensajes conocidos.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Solución (Filtros):</a:t>
            </a:r>
            <a:r>
              <a:rPr lang="es-ES">
                <a:solidFill>
                  <a:srgbClr val="A73C26"/>
                </a:solidFill>
              </a:rPr>
              <a:t> </a:t>
            </a:r>
            <a:r>
              <a:rPr lang="es-ES">
                <a:solidFill>
                  <a:schemeClr val="dk1"/>
                </a:solidFill>
              </a:rPr>
              <a:t>Implementación de la clase Filtro y la lógica de enrutamiento, usando un criterio lambda para redirigir mensajes a la carpeta destino tras la recepción.</a:t>
            </a:r>
            <a:endParaRPr/>
          </a:p>
          <a:p>
            <a:pPr indent="-109537" lvl="0" marL="22860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ct val="125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4"/>
          <p:cNvSpPr txBox="1"/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ts val="4400"/>
              <a:buFont typeface="Twentieth Century"/>
              <a:buNone/>
            </a:pPr>
            <a:r>
              <a:rPr b="1" lang="es-ES" sz="4400">
                <a:solidFill>
                  <a:srgbClr val="A73C26"/>
                </a:solidFill>
              </a:rPr>
              <a:t>VALIDACIÓN DE ESTRUCTURAS: HEAP</a:t>
            </a:r>
            <a:br>
              <a:rPr b="1" lang="es-ES"/>
            </a:br>
            <a:r>
              <a:rPr lang="es-ES" sz="1600">
                <a:solidFill>
                  <a:schemeClr val="dk1"/>
                </a:solidFill>
              </a:rPr>
              <a:t>VERIFICACIÓN UNITARIA DE LA COLA DE PRIORIDAD Y ORDEN FIFO</a:t>
            </a:r>
            <a:br>
              <a:rPr lang="es-ES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</p:txBody>
      </p:sp>
      <p:sp>
        <p:nvSpPr>
          <p:cNvPr id="359" name="Google Shape;359;p34"/>
          <p:cNvSpPr txBox="1"/>
          <p:nvPr>
            <p:ph idx="1" type="body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10000"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Caso: Prioridad Mixta</a:t>
            </a:r>
            <a:endParaRPr b="1">
              <a:solidFill>
                <a:srgbClr val="A73C26"/>
              </a:solidFill>
            </a:endParaRPr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5000"/>
              <a:buNone/>
            </a:pPr>
            <a:r>
              <a:rPr lang="es-ES">
                <a:solidFill>
                  <a:schemeClr val="dk1"/>
                </a:solidFill>
              </a:rPr>
              <a:t>Se simuló la llegada de mensajes con prioridades {5, 1, 3}.</a:t>
            </a:r>
            <a:br>
              <a:rPr lang="es-ES"/>
            </a:br>
            <a:r>
              <a:rPr b="1" lang="es-ES">
                <a:solidFill>
                  <a:schemeClr val="dk1"/>
                </a:solidFill>
              </a:rPr>
              <a:t>Resultado Esperado: </a:t>
            </a:r>
            <a:r>
              <a:rPr lang="es-ES">
                <a:solidFill>
                  <a:schemeClr val="dk1"/>
                </a:solidFill>
              </a:rPr>
              <a:t>Extracción en orden {1, 3, 5}.</a:t>
            </a:r>
            <a:br>
              <a:rPr lang="es-ES"/>
            </a:br>
            <a:r>
              <a:rPr b="1" lang="es-ES">
                <a:solidFill>
                  <a:schemeClr val="dk1"/>
                </a:solidFill>
              </a:rPr>
              <a:t>Resultado Obtenido: </a:t>
            </a:r>
            <a:r>
              <a:rPr lang="es-ES">
                <a:solidFill>
                  <a:schemeClr val="dk1"/>
                </a:solidFill>
              </a:rPr>
              <a:t>El Heap reordenó correctamente la salida.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Caso: Empate de Prioridad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5000"/>
              <a:buNone/>
            </a:pPr>
            <a:r>
              <a:rPr lang="es-ES">
                <a:solidFill>
                  <a:schemeClr val="dk1"/>
                </a:solidFill>
              </a:rPr>
              <a:t>Se enviaron 3 mensajes urgentes (Prioridad 1) consecutivos.</a:t>
            </a:r>
            <a:br>
              <a:rPr lang="es-ES">
                <a:solidFill>
                  <a:schemeClr val="dk1"/>
                </a:solidFill>
              </a:rPr>
            </a:br>
            <a:r>
              <a:rPr lang="es-ES">
                <a:solidFill>
                  <a:schemeClr val="dk1"/>
                </a:solidFill>
              </a:rPr>
              <a:t>Validación: Se confirmó que se respeta estrictamente el orden de llegada (FIFO) dentro del mismo nivel de prioridad.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5"/>
          <p:cNvSpPr txBox="1"/>
          <p:nvPr>
            <p:ph type="title"/>
          </p:nvPr>
        </p:nvSpPr>
        <p:spPr>
          <a:xfrm>
            <a:off x="1141412" y="507986"/>
            <a:ext cx="9905998" cy="1478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ts val="4400"/>
              <a:buFont typeface="Twentieth Century"/>
              <a:buNone/>
            </a:pPr>
            <a:r>
              <a:rPr b="1" lang="es-ES" sz="4400">
                <a:solidFill>
                  <a:srgbClr val="A73C26"/>
                </a:solidFill>
              </a:rPr>
              <a:t>VALIDACIÓN DE INTEGRACIÓN</a:t>
            </a:r>
            <a:br>
              <a:rPr b="1" lang="es-ES" sz="2800"/>
            </a:br>
            <a:r>
              <a:rPr lang="es-ES" sz="1400">
                <a:solidFill>
                  <a:schemeClr val="dk1"/>
                </a:solidFill>
              </a:rPr>
              <a:t>PRUEBAS DE RECURSIVIDAD Y FLUJO COMPLETO DEL SISTEMA</a:t>
            </a:r>
            <a:br>
              <a:rPr b="1" lang="es-ES" sz="2800"/>
            </a:br>
            <a:endParaRPr sz="2800"/>
          </a:p>
        </p:txBody>
      </p:sp>
      <p:sp>
        <p:nvSpPr>
          <p:cNvPr id="365" name="Google Shape;365;p35"/>
          <p:cNvSpPr txBox="1"/>
          <p:nvPr>
            <p:ph idx="1" type="body"/>
          </p:nvPr>
        </p:nvSpPr>
        <p:spPr>
          <a:xfrm>
            <a:off x="1141412" y="2642715"/>
            <a:ext cx="3772231" cy="19996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85000" lnSpcReduction="10000"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5000"/>
              <a:buNone/>
            </a:pPr>
            <a:r>
              <a:rPr lang="es-ES">
                <a:solidFill>
                  <a:schemeClr val="dk1"/>
                </a:solidFill>
              </a:rPr>
              <a:t>Confirma que la recursividad no rompe la integridad de los datos.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5000"/>
              <a:buNone/>
            </a:pPr>
            <a:r>
              <a:rPr lang="es-ES">
                <a:solidFill>
                  <a:schemeClr val="dk1"/>
                </a:solidFill>
              </a:rPr>
              <a:t>Verifica la creación dinámica de carpetas de destino si no existen.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ct val="125000"/>
              <a:buNone/>
            </a:pPr>
            <a:r>
              <a:t/>
            </a:r>
            <a:endParaRPr b="1"/>
          </a:p>
        </p:txBody>
      </p:sp>
      <p:pic>
        <p:nvPicPr>
          <p:cNvPr id="366" name="Google Shape;366;p35"/>
          <p:cNvPicPr preferRelativeResize="0"/>
          <p:nvPr/>
        </p:nvPicPr>
        <p:blipFill rotWithShape="1">
          <a:blip r:embed="rId4">
            <a:alphaModFix/>
          </a:blip>
          <a:srcRect b="3" l="0" r="27454" t="0"/>
          <a:stretch/>
        </p:blipFill>
        <p:spPr>
          <a:xfrm>
            <a:off x="6167598" y="2205242"/>
            <a:ext cx="4655075" cy="3047892"/>
          </a:xfrm>
          <a:prstGeom prst="round2DiagRect">
            <a:avLst>
              <a:gd fmla="val 4860" name="adj1"/>
              <a:gd fmla="val 0" name="adj2"/>
            </a:avLst>
          </a:prstGeom>
          <a:noFill/>
          <a:ln cap="sq" cmpd="sng" w="19050">
            <a:solidFill>
              <a:srgbClr val="B3FFFF">
                <a:alpha val="60000"/>
              </a:srgbClr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88900" rotWithShape="0" algn="t" dir="5400000" dist="3810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36"/>
          <p:cNvSpPr txBox="1"/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ts val="4400"/>
              <a:buFont typeface="Twentieth Century"/>
              <a:buNone/>
            </a:pPr>
            <a:r>
              <a:rPr b="1" lang="es-ES" sz="4400">
                <a:solidFill>
                  <a:srgbClr val="A73C26"/>
                </a:solidFill>
              </a:rPr>
              <a:t>CONCLUSIONES GENERALES</a:t>
            </a:r>
            <a:br>
              <a:rPr b="1" lang="es-ES"/>
            </a:br>
            <a:r>
              <a:rPr lang="es-ES" sz="1600">
                <a:solidFill>
                  <a:schemeClr val="dk1"/>
                </a:solidFill>
              </a:rPr>
              <a:t>RESUMEN DE LOGROS TÉCNICOS Y CUMPLIMIENTO DE OBJETIVOS.</a:t>
            </a:r>
            <a:br>
              <a:rPr b="1" lang="es-ES"/>
            </a:br>
            <a:endParaRPr/>
          </a:p>
        </p:txBody>
      </p:sp>
      <p:sp>
        <p:nvSpPr>
          <p:cNvPr id="372" name="Google Shape;372;p36"/>
          <p:cNvSpPr txBox="1"/>
          <p:nvPr>
            <p:ph idx="1" type="body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85000" lnSpcReduction="20000"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Dominio de estructuras: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5000"/>
              <a:buNone/>
            </a:pPr>
            <a:r>
              <a:rPr lang="es-ES">
                <a:solidFill>
                  <a:schemeClr val="dk1"/>
                </a:solidFill>
              </a:rPr>
              <a:t>Se demostró la aplicación exitosa de Árboles para jerarquías complejas y Heaps para la gestión de prioridades, yendo más allá de la teoría.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Eficiencia Logarítmica: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5000"/>
              <a:buNone/>
            </a:pPr>
            <a:r>
              <a:rPr lang="es-ES">
                <a:solidFill>
                  <a:schemeClr val="dk1"/>
                </a:solidFill>
              </a:rPr>
              <a:t>Se cumplió el objetivo de rendimiento: las operaciones críticas (búsqueda y gestión de urgencia) mantienen una complejidad de O(log n) asegurando escalabilidad.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A73C26"/>
              </a:buClr>
              <a:buSzPct val="125000"/>
              <a:buNone/>
            </a:pPr>
            <a:r>
              <a:rPr b="1" lang="es-ES">
                <a:solidFill>
                  <a:srgbClr val="A73C26"/>
                </a:solidFill>
              </a:rPr>
              <a:t>Integración Robusta: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5000"/>
              <a:buNone/>
            </a:pPr>
            <a:r>
              <a:rPr lang="es-ES">
                <a:solidFill>
                  <a:schemeClr val="dk1"/>
                </a:solidFill>
              </a:rPr>
              <a:t>La implementación de algoritmos recursivos (DFS) y filtros automáticos permitió integrar las estructuras en un sistema funcional y modular.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37"/>
          <p:cNvSpPr txBox="1"/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73C26"/>
              </a:buClr>
              <a:buSzPts val="4800"/>
              <a:buFont typeface="Twentieth Century"/>
              <a:buNone/>
            </a:pPr>
            <a:r>
              <a:rPr b="1" lang="es-ES" sz="4800">
                <a:solidFill>
                  <a:srgbClr val="A73C26"/>
                </a:solidFill>
              </a:rPr>
              <a:t>¡MUCHAS GRACIAS!</a:t>
            </a:r>
            <a:br>
              <a:rPr b="1" lang="es-ES"/>
            </a:br>
            <a:endParaRPr/>
          </a:p>
        </p:txBody>
      </p:sp>
      <p:sp>
        <p:nvSpPr>
          <p:cNvPr id="378" name="Google Shape;378;p37"/>
          <p:cNvSpPr txBox="1"/>
          <p:nvPr>
            <p:ph idx="1" type="body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</a:pPr>
            <a:r>
              <a:rPr lang="es-ES">
                <a:solidFill>
                  <a:schemeClr val="dk1"/>
                </a:solidFill>
              </a:rPr>
              <a:t>Estamos a disposición para responder sus preguntas.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</a:pPr>
            <a:r>
              <a:rPr lang="es-ES"/>
              <a:t> 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</a:pPr>
            <a:r>
              <a:rPr lang="es-ES">
                <a:solidFill>
                  <a:schemeClr val="dk1"/>
                </a:solidFill>
              </a:rPr>
              <a:t>     TP Integrador - 2025     &lt;/&gt;Estructuras de Datos </a:t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</a:pPr>
            <a:r>
              <a:t/>
            </a:r>
            <a:endParaRPr/>
          </a:p>
        </p:txBody>
      </p:sp>
      <p:pic>
        <p:nvPicPr>
          <p:cNvPr descr="Correo electrónico con relleno sólido" id="379" name="Google Shape;379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10403" y="5152725"/>
            <a:ext cx="344156" cy="3441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ircuito">
  <a:themeElements>
    <a:clrScheme name="Circuit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